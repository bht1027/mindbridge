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4754880" cy="6858000"/>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54880" y="0"/>
            <a:ext cx="164592" cy="6858000"/>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4023360" cy="4389120"/>
          </a:xfrm>
          <a:prstGeom prst="rect">
            <a:avLst/>
          </a:prstGeom>
          <a:noFill/>
        </p:spPr>
        <p:txBody>
          <a:bodyPr wrap="square">
            <a:spAutoFit/>
          </a:bodyPr>
          <a:lstStyle/>
          <a:p>
            <a:pPr algn="l">
              <a:spcBef>
                <a:spcPts val="0"/>
              </a:spcBef>
            </a:pPr>
            <a:r>
              <a:rPr sz="5000" b="1" i="0">
                <a:solidFill>
                  <a:srgbClr val="FFFFFF"/>
                </a:solidFill>
                <a:latin typeface="Calibri"/>
              </a:rPr>
              <a:t>MindBridge</a:t>
            </a:r>
          </a:p>
          <a:p>
            <a:pPr algn="l">
              <a:spcBef>
                <a:spcPts val="1000"/>
              </a:spcBef>
            </a:pPr>
            <a:r>
              <a:rPr sz="2100" b="0" i="0">
                <a:solidFill>
                  <a:srgbClr val="FFDDCC"/>
                </a:solidFill>
                <a:latin typeface="Calibri"/>
              </a:rPr>
              <a:t>A CBT-Informed Multi-Agent
Supportive Dialogue System</a:t>
            </a:r>
          </a:p>
          <a:p>
            <a:pPr algn="l">
              <a:spcBef>
                <a:spcPts val="1400"/>
              </a:spcBef>
            </a:pPr>
            <a:r>
              <a:rPr sz="1400" b="0" i="0">
                <a:solidFill>
                  <a:srgbClr val="FFCCBB"/>
                </a:solidFill>
                <a:latin typeface="Calibri"/>
              </a:rPr>
              <a:t>
STAT GR5293  ·  GenAI Course Project</a:t>
            </a:r>
          </a:p>
          <a:p>
            <a:pPr algn="l">
              <a:spcBef>
                <a:spcPts val="800"/>
              </a:spcBef>
            </a:pPr>
            <a:r>
              <a:rPr sz="1300" b="0" i="0">
                <a:solidFill>
                  <a:srgbClr val="FFDDCC"/>
                </a:solidFill>
                <a:latin typeface="Calibri"/>
              </a:rPr>
              <a:t>
Xiaozhe Shao  ·  Haotian Bi  ·  Siyuan Chen</a:t>
            </a:r>
          </a:p>
        </p:txBody>
      </p:sp>
      <p:sp>
        <p:nvSpPr>
          <p:cNvPr id="5" name="TextBox 4"/>
          <p:cNvSpPr txBox="1"/>
          <p:nvPr/>
        </p:nvSpPr>
        <p:spPr>
          <a:xfrm>
            <a:off x="5212080" y="1737360"/>
            <a:ext cx="6583680" cy="822960"/>
          </a:xfrm>
          <a:prstGeom prst="rect">
            <a:avLst/>
          </a:prstGeom>
          <a:noFill/>
        </p:spPr>
        <p:txBody>
          <a:bodyPr wrap="square">
            <a:spAutoFit/>
          </a:bodyPr>
          <a:lstStyle/>
          <a:p>
            <a:pPr algn="l">
              <a:spcBef>
                <a:spcPts val="0"/>
              </a:spcBef>
            </a:pPr>
            <a:r>
              <a:rPr sz="2400" b="0" i="1">
                <a:solidFill>
                  <a:srgbClr val="3D2B1F"/>
                </a:solidFill>
                <a:latin typeface="Calibri"/>
              </a:rPr>
              <a:t>"A softer place to think things through."</a:t>
            </a:r>
          </a:p>
        </p:txBody>
      </p:sp>
      <p:sp>
        <p:nvSpPr>
          <p:cNvPr id="6" name="Rounded Rectangle 5"/>
          <p:cNvSpPr/>
          <p:nvPr/>
        </p:nvSpPr>
        <p:spPr>
          <a:xfrm>
            <a:off x="5212080" y="2834640"/>
            <a:ext cx="2057400" cy="438912"/>
          </a:xfrm>
          <a:prstGeom prst="round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85232" y="2889504"/>
            <a:ext cx="1920240" cy="347472"/>
          </a:xfrm>
          <a:prstGeom prst="rect">
            <a:avLst/>
          </a:prstGeom>
          <a:noFill/>
        </p:spPr>
        <p:txBody>
          <a:bodyPr wrap="square">
            <a:spAutoFit/>
          </a:bodyPr>
          <a:lstStyle/>
          <a:p>
            <a:pPr algn="ctr">
              <a:spcBef>
                <a:spcPts val="0"/>
              </a:spcBef>
            </a:pPr>
            <a:r>
              <a:rPr sz="1400" b="1" i="0">
                <a:solidFill>
                  <a:srgbClr val="FFFFFF"/>
                </a:solidFill>
                <a:latin typeface="Calibri"/>
              </a:rPr>
              <a:t>Multi-Agent Pipeline</a:t>
            </a:r>
          </a:p>
        </p:txBody>
      </p:sp>
      <p:sp>
        <p:nvSpPr>
          <p:cNvPr id="8" name="Rounded Rectangle 7"/>
          <p:cNvSpPr/>
          <p:nvPr/>
        </p:nvSpPr>
        <p:spPr>
          <a:xfrm>
            <a:off x="7452360" y="2834640"/>
            <a:ext cx="2057400" cy="438912"/>
          </a:xfrm>
          <a:prstGeom prst="round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25512" y="2889504"/>
            <a:ext cx="1920240" cy="347472"/>
          </a:xfrm>
          <a:prstGeom prst="rect">
            <a:avLst/>
          </a:prstGeom>
          <a:noFill/>
        </p:spPr>
        <p:txBody>
          <a:bodyPr wrap="square">
            <a:spAutoFit/>
          </a:bodyPr>
          <a:lstStyle/>
          <a:p>
            <a:pPr algn="ctr">
              <a:spcBef>
                <a:spcPts val="0"/>
              </a:spcBef>
            </a:pPr>
            <a:r>
              <a:rPr sz="1400" b="1" i="0">
                <a:solidFill>
                  <a:srgbClr val="FFFFFF"/>
                </a:solidFill>
                <a:latin typeface="Calibri"/>
              </a:rPr>
              <a:t>CBT-Informed</a:t>
            </a:r>
          </a:p>
        </p:txBody>
      </p:sp>
      <p:sp>
        <p:nvSpPr>
          <p:cNvPr id="10" name="Rounded Rectangle 9"/>
          <p:cNvSpPr/>
          <p:nvPr/>
        </p:nvSpPr>
        <p:spPr>
          <a:xfrm>
            <a:off x="9692640" y="2834640"/>
            <a:ext cx="2057400" cy="438912"/>
          </a:xfrm>
          <a:prstGeom prst="roundRect">
            <a:avLst/>
          </a:prstGeom>
          <a:solidFill>
            <a:srgbClr val="8B4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65792" y="2889504"/>
            <a:ext cx="1920240" cy="347472"/>
          </a:xfrm>
          <a:prstGeom prst="rect">
            <a:avLst/>
          </a:prstGeom>
          <a:noFill/>
        </p:spPr>
        <p:txBody>
          <a:bodyPr wrap="square">
            <a:spAutoFit/>
          </a:bodyPr>
          <a:lstStyle/>
          <a:p>
            <a:pPr algn="ctr">
              <a:spcBef>
                <a:spcPts val="0"/>
              </a:spcBef>
            </a:pPr>
            <a:r>
              <a:rPr sz="1400" b="1" i="0">
                <a:solidFill>
                  <a:srgbClr val="FFFFFF"/>
                </a:solidFill>
                <a:latin typeface="Calibri"/>
              </a:rPr>
              <a:t>Safety-First</a:t>
            </a:r>
          </a:p>
        </p:txBody>
      </p:sp>
      <p:sp>
        <p:nvSpPr>
          <p:cNvPr id="12" name="Rectangle 11"/>
          <p:cNvSpPr/>
          <p:nvPr/>
        </p:nvSpPr>
        <p:spPr>
          <a:xfrm>
            <a:off x="4937760" y="6035040"/>
            <a:ext cx="7251192" cy="621792"/>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6144768"/>
            <a:ext cx="6766560" cy="438912"/>
          </a:xfrm>
          <a:prstGeom prst="rect">
            <a:avLst/>
          </a:prstGeom>
          <a:noFill/>
        </p:spPr>
        <p:txBody>
          <a:bodyPr wrap="square">
            <a:spAutoFit/>
          </a:bodyPr>
          <a:lstStyle/>
          <a:p>
            <a:pPr algn="l">
              <a:spcBef>
                <a:spcPts val="0"/>
              </a:spcBef>
            </a:pPr>
            <a:r>
              <a:rPr sz="1200" b="0" i="0">
                <a:solidFill>
                  <a:srgbClr val="4A7257"/>
                </a:solidFill>
                <a:latin typeface="Calibri"/>
              </a:rPr>
              <a:t>🌿  Empathy  ·  CBT Micro-moves  ·  Safety Checks  ·  Session Memory  ·  LLM-as-Judge Evaluation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247120" cy="685800"/>
          </a:xfrm>
          <a:prstGeom prst="rect">
            <a:avLst/>
          </a:prstGeom>
          <a:noFill/>
        </p:spPr>
        <p:txBody>
          <a:bodyPr wrap="square">
            <a:spAutoFit/>
          </a:bodyPr>
          <a:lstStyle/>
          <a:p>
            <a:pPr algn="l">
              <a:spcBef>
                <a:spcPts val="0"/>
              </a:spcBef>
            </a:pPr>
            <a:r>
              <a:rPr sz="3400" b="1" i="0">
                <a:solidFill>
                  <a:srgbClr val="3D2B1F"/>
                </a:solidFill>
                <a:latin typeface="Calibri"/>
              </a:rPr>
              <a:t>Problem Statement</a:t>
            </a:r>
          </a:p>
        </p:txBody>
      </p:sp>
      <p:sp>
        <p:nvSpPr>
          <p:cNvPr id="4" name="Rectangle 3"/>
          <p:cNvSpPr/>
          <p:nvPr/>
        </p:nvSpPr>
        <p:spPr>
          <a:xfrm>
            <a:off x="502920" y="987552"/>
            <a:ext cx="11247120" cy="36576"/>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143000"/>
            <a:ext cx="3611880" cy="237744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98448"/>
            <a:ext cx="3246120" cy="2103120"/>
          </a:xfrm>
          <a:prstGeom prst="rect">
            <a:avLst/>
          </a:prstGeom>
          <a:noFill/>
        </p:spPr>
        <p:txBody>
          <a:bodyPr wrap="square">
            <a:spAutoFit/>
          </a:bodyPr>
          <a:lstStyle/>
          <a:p>
            <a:pPr algn="l">
              <a:spcBef>
                <a:spcPts val="0"/>
              </a:spcBef>
            </a:pPr>
            <a:r>
              <a:rPr sz="1700" b="1" i="0">
                <a:solidFill>
                  <a:srgbClr val="C1603A"/>
                </a:solidFill>
                <a:latin typeface="Calibri"/>
              </a:rPr>
              <a:t>😞  Emotional Gap</a:t>
            </a:r>
          </a:p>
          <a:p>
            <a:pPr algn="l">
              <a:spcBef>
                <a:spcPts val="600"/>
              </a:spcBef>
            </a:pPr>
            <a:r>
              <a:rPr sz="1350" b="0" i="0">
                <a:solidFill>
                  <a:srgbClr val="3D2B1F"/>
                </a:solidFill>
                <a:latin typeface="Calibri"/>
              </a:rPr>
              <a:t>
People in distress need empathy first — not a FAQ bot or a generic advice list.</a:t>
            </a:r>
          </a:p>
        </p:txBody>
      </p:sp>
      <p:sp>
        <p:nvSpPr>
          <p:cNvPr id="7" name="Rounded Rectangle 6"/>
          <p:cNvSpPr/>
          <p:nvPr/>
        </p:nvSpPr>
        <p:spPr>
          <a:xfrm>
            <a:off x="4398264" y="1143000"/>
            <a:ext cx="3611880" cy="237744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1144" y="1298448"/>
            <a:ext cx="3246120" cy="2103120"/>
          </a:xfrm>
          <a:prstGeom prst="rect">
            <a:avLst/>
          </a:prstGeom>
          <a:noFill/>
        </p:spPr>
        <p:txBody>
          <a:bodyPr wrap="square">
            <a:spAutoFit/>
          </a:bodyPr>
          <a:lstStyle/>
          <a:p>
            <a:pPr algn="l">
              <a:spcBef>
                <a:spcPts val="0"/>
              </a:spcBef>
            </a:pPr>
            <a:r>
              <a:rPr sz="1700" b="1" i="0">
                <a:solidFill>
                  <a:srgbClr val="C1603A"/>
                </a:solidFill>
                <a:latin typeface="Calibri"/>
              </a:rPr>
              <a:t>⚙️  Single-LLM Limits</a:t>
            </a:r>
          </a:p>
          <a:p>
            <a:pPr algn="l">
              <a:spcBef>
                <a:spcPts val="600"/>
              </a:spcBef>
            </a:pPr>
            <a:r>
              <a:rPr sz="1350" b="0" i="0">
                <a:solidFill>
                  <a:srgbClr val="3D2B1F"/>
                </a:solidFill>
                <a:latin typeface="Calibri"/>
              </a:rPr>
              <a:t>
One prompt has no memory, no safety guardrails, no empathy grounding — and gives advice too fast.</a:t>
            </a:r>
          </a:p>
        </p:txBody>
      </p:sp>
      <p:sp>
        <p:nvSpPr>
          <p:cNvPr id="9" name="Rounded Rectangle 8"/>
          <p:cNvSpPr/>
          <p:nvPr/>
        </p:nvSpPr>
        <p:spPr>
          <a:xfrm>
            <a:off x="8293608" y="1143000"/>
            <a:ext cx="3611880" cy="237744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76488" y="1298448"/>
            <a:ext cx="3246120" cy="2103120"/>
          </a:xfrm>
          <a:prstGeom prst="rect">
            <a:avLst/>
          </a:prstGeom>
          <a:noFill/>
        </p:spPr>
        <p:txBody>
          <a:bodyPr wrap="square">
            <a:spAutoFit/>
          </a:bodyPr>
          <a:lstStyle/>
          <a:p>
            <a:pPr algn="l">
              <a:spcBef>
                <a:spcPts val="0"/>
              </a:spcBef>
            </a:pPr>
            <a:r>
              <a:rPr sz="1700" b="1" i="0">
                <a:solidFill>
                  <a:srgbClr val="C1603A"/>
                </a:solidFill>
                <a:latin typeface="Calibri"/>
              </a:rPr>
              <a:t>🧠  CBT Requires Structure</a:t>
            </a:r>
          </a:p>
          <a:p>
            <a:pPr algn="l">
              <a:spcBef>
                <a:spcPts val="600"/>
              </a:spcBef>
            </a:pPr>
            <a:r>
              <a:rPr sz="1350" b="0" i="0">
                <a:solidFill>
                  <a:srgbClr val="3D2B1F"/>
                </a:solidFill>
                <a:latin typeface="Calibri"/>
              </a:rPr>
              <a:t>
Effective support follows stages: understand → explore → reframe → act. A single prompt can't do this reliably.</a:t>
            </a:r>
          </a:p>
        </p:txBody>
      </p:sp>
      <p:sp>
        <p:nvSpPr>
          <p:cNvPr id="11" name="Rectangle 10"/>
          <p:cNvSpPr/>
          <p:nvPr/>
        </p:nvSpPr>
        <p:spPr>
          <a:xfrm>
            <a:off x="502920" y="3703320"/>
            <a:ext cx="11247120" cy="54864"/>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822191"/>
            <a:ext cx="4572000" cy="411480"/>
          </a:xfrm>
          <a:prstGeom prst="rect">
            <a:avLst/>
          </a:prstGeom>
          <a:noFill/>
        </p:spPr>
        <p:txBody>
          <a:bodyPr wrap="square">
            <a:spAutoFit/>
          </a:bodyPr>
          <a:lstStyle/>
          <a:p>
            <a:pPr algn="l">
              <a:spcBef>
                <a:spcPts val="0"/>
              </a:spcBef>
            </a:pPr>
            <a:r>
              <a:rPr sz="1800" b="1" i="0">
                <a:solidFill>
                  <a:srgbClr val="4A7257"/>
                </a:solidFill>
                <a:latin typeface="Calibri"/>
              </a:rPr>
              <a:t>Research Questions</a:t>
            </a:r>
          </a:p>
        </p:txBody>
      </p:sp>
      <p:sp>
        <p:nvSpPr>
          <p:cNvPr id="13" name="Rounded Rectangle 12"/>
          <p:cNvSpPr/>
          <p:nvPr/>
        </p:nvSpPr>
        <p:spPr>
          <a:xfrm>
            <a:off x="502920" y="4343400"/>
            <a:ext cx="11247120" cy="59436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453128"/>
            <a:ext cx="10881360" cy="420624"/>
          </a:xfrm>
          <a:prstGeom prst="rect">
            <a:avLst/>
          </a:prstGeom>
          <a:noFill/>
        </p:spPr>
        <p:txBody>
          <a:bodyPr wrap="square">
            <a:spAutoFit/>
          </a:bodyPr>
          <a:lstStyle/>
          <a:p>
            <a:pPr algn="l">
              <a:spcBef>
                <a:spcPts val="0"/>
              </a:spcBef>
            </a:pPr>
            <a:r>
              <a:rPr sz="1400" b="0" i="0">
                <a:solidFill>
                  <a:srgbClr val="3D2B1F"/>
                </a:solidFill>
                <a:latin typeface="Calibri"/>
              </a:rPr>
              <a:t>RQ1  Does a multi-agent pipeline improve empathy &amp; naturalness vs a single-LLM baseline?</a:t>
            </a:r>
          </a:p>
        </p:txBody>
      </p:sp>
      <p:sp>
        <p:nvSpPr>
          <p:cNvPr id="15" name="Rounded Rectangle 14"/>
          <p:cNvSpPr/>
          <p:nvPr/>
        </p:nvSpPr>
        <p:spPr>
          <a:xfrm>
            <a:off x="502920" y="5029200"/>
            <a:ext cx="11247120" cy="59436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138928"/>
            <a:ext cx="10881360" cy="420624"/>
          </a:xfrm>
          <a:prstGeom prst="rect">
            <a:avLst/>
          </a:prstGeom>
          <a:noFill/>
        </p:spPr>
        <p:txBody>
          <a:bodyPr wrap="square">
            <a:spAutoFit/>
          </a:bodyPr>
          <a:lstStyle/>
          <a:p>
            <a:pPr algn="l">
              <a:spcBef>
                <a:spcPts val="0"/>
              </a:spcBef>
            </a:pPr>
            <a:r>
              <a:rPr sz="1400" b="0" i="0">
                <a:solidFill>
                  <a:srgbClr val="3D2B1F"/>
                </a:solidFill>
                <a:latin typeface="Calibri"/>
              </a:rPr>
              <a:t>RQ2  Does the safety layer significantly improve handling of high-risk disclosures?</a:t>
            </a:r>
          </a:p>
        </p:txBody>
      </p:sp>
      <p:sp>
        <p:nvSpPr>
          <p:cNvPr id="17" name="Rounded Rectangle 16"/>
          <p:cNvSpPr/>
          <p:nvPr/>
        </p:nvSpPr>
        <p:spPr>
          <a:xfrm>
            <a:off x="502920" y="5715000"/>
            <a:ext cx="11247120" cy="59436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24728"/>
            <a:ext cx="10881360" cy="420624"/>
          </a:xfrm>
          <a:prstGeom prst="rect">
            <a:avLst/>
          </a:prstGeom>
          <a:noFill/>
        </p:spPr>
        <p:txBody>
          <a:bodyPr wrap="square">
            <a:spAutoFit/>
          </a:bodyPr>
          <a:lstStyle/>
          <a:p>
            <a:pPr algn="l">
              <a:spcBef>
                <a:spcPts val="0"/>
              </a:spcBef>
            </a:pPr>
            <a:r>
              <a:rPr sz="1400" b="0" i="0">
                <a:solidFill>
                  <a:srgbClr val="3D2B1F"/>
                </a:solidFill>
                <a:latin typeface="Calibri"/>
              </a:rPr>
              <a:t>RQ3  Which pipeline component (Critic / Reviser / Safety / Retrieval) contributes most?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247120" cy="685800"/>
          </a:xfrm>
          <a:prstGeom prst="rect">
            <a:avLst/>
          </a:prstGeom>
          <a:noFill/>
        </p:spPr>
        <p:txBody>
          <a:bodyPr wrap="square">
            <a:spAutoFit/>
          </a:bodyPr>
          <a:lstStyle/>
          <a:p>
            <a:pPr algn="l">
              <a:spcBef>
                <a:spcPts val="0"/>
              </a:spcBef>
            </a:pPr>
            <a:r>
              <a:rPr sz="3400" b="1" i="0">
                <a:solidFill>
                  <a:srgbClr val="3D2B1F"/>
                </a:solidFill>
                <a:latin typeface="Calibri"/>
              </a:rPr>
              <a:t>System Architecture</a:t>
            </a:r>
          </a:p>
        </p:txBody>
      </p:sp>
      <p:sp>
        <p:nvSpPr>
          <p:cNvPr id="4" name="Rectangle 3"/>
          <p:cNvSpPr/>
          <p:nvPr/>
        </p:nvSpPr>
        <p:spPr>
          <a:xfrm>
            <a:off x="502920" y="987552"/>
            <a:ext cx="11247120" cy="36576"/>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47472" y="1078992"/>
            <a:ext cx="4114800" cy="548640"/>
          </a:xfrm>
          <a:prstGeom prst="round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 y="1170432"/>
            <a:ext cx="4005072" cy="365759"/>
          </a:xfrm>
          <a:prstGeom prst="rect">
            <a:avLst/>
          </a:prstGeom>
          <a:noFill/>
        </p:spPr>
        <p:txBody>
          <a:bodyPr wrap="square">
            <a:spAutoFit/>
          </a:bodyPr>
          <a:lstStyle/>
          <a:p>
            <a:pPr algn="ctr">
              <a:spcBef>
                <a:spcPts val="0"/>
              </a:spcBef>
            </a:pPr>
            <a:r>
              <a:rPr sz="1300" b="1" i="0">
                <a:solidFill>
                  <a:srgbClr val="FFFFFF"/>
                </a:solidFill>
                <a:latin typeface="Calibri"/>
              </a:rPr>
              <a:t>Input Analyzer</a:t>
            </a:r>
          </a:p>
        </p:txBody>
      </p:sp>
      <p:sp>
        <p:nvSpPr>
          <p:cNvPr id="7" name="Rectangle 6"/>
          <p:cNvSpPr/>
          <p:nvPr/>
        </p:nvSpPr>
        <p:spPr>
          <a:xfrm>
            <a:off x="2386584" y="1627631"/>
            <a:ext cx="36576" cy="36576"/>
          </a:xfrm>
          <a:prstGeom prst="rect">
            <a:avLst/>
          </a:prstGeom>
          <a:solidFill>
            <a:srgbClr val="8A6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67712" y="1664207"/>
            <a:ext cx="274320" cy="201168"/>
          </a:xfrm>
          <a:prstGeom prst="rect">
            <a:avLst/>
          </a:prstGeom>
          <a:noFill/>
        </p:spPr>
        <p:txBody>
          <a:bodyPr wrap="square">
            <a:spAutoFit/>
          </a:bodyPr>
          <a:lstStyle/>
          <a:p>
            <a:pPr algn="ctr">
              <a:spcBef>
                <a:spcPts val="0"/>
              </a:spcBef>
            </a:pPr>
            <a:r>
              <a:rPr sz="1100" b="0" i="0">
                <a:solidFill>
                  <a:srgbClr val="8A6F5A"/>
                </a:solidFill>
                <a:latin typeface="Calibri"/>
              </a:rPr>
              <a:t>▼</a:t>
            </a:r>
          </a:p>
        </p:txBody>
      </p:sp>
      <p:sp>
        <p:nvSpPr>
          <p:cNvPr id="9" name="Rounded Rectangle 8"/>
          <p:cNvSpPr/>
          <p:nvPr/>
        </p:nvSpPr>
        <p:spPr>
          <a:xfrm>
            <a:off x="347472" y="1828799"/>
            <a:ext cx="4114800" cy="548640"/>
          </a:xfrm>
          <a:prstGeom prst="roundRect">
            <a:avLst/>
          </a:prstGeom>
          <a:solidFill>
            <a:srgbClr val="A072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336" y="1920239"/>
            <a:ext cx="4005072" cy="365759"/>
          </a:xfrm>
          <a:prstGeom prst="rect">
            <a:avLst/>
          </a:prstGeom>
          <a:noFill/>
        </p:spPr>
        <p:txBody>
          <a:bodyPr wrap="square">
            <a:spAutoFit/>
          </a:bodyPr>
          <a:lstStyle/>
          <a:p>
            <a:pPr algn="ctr">
              <a:spcBef>
                <a:spcPts val="0"/>
              </a:spcBef>
            </a:pPr>
            <a:r>
              <a:rPr sz="1300" b="1" i="0">
                <a:solidFill>
                  <a:srgbClr val="FFFFFF"/>
                </a:solidFill>
                <a:latin typeface="Calibri"/>
              </a:rPr>
              <a:t>Retriever (RAG)</a:t>
            </a:r>
          </a:p>
        </p:txBody>
      </p:sp>
      <p:sp>
        <p:nvSpPr>
          <p:cNvPr id="11" name="Rectangle 10"/>
          <p:cNvSpPr/>
          <p:nvPr/>
        </p:nvSpPr>
        <p:spPr>
          <a:xfrm>
            <a:off x="2386584" y="2377439"/>
            <a:ext cx="36576" cy="36576"/>
          </a:xfrm>
          <a:prstGeom prst="rect">
            <a:avLst/>
          </a:prstGeom>
          <a:solidFill>
            <a:srgbClr val="8A6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67712" y="2414015"/>
            <a:ext cx="274320" cy="201168"/>
          </a:xfrm>
          <a:prstGeom prst="rect">
            <a:avLst/>
          </a:prstGeom>
          <a:noFill/>
        </p:spPr>
        <p:txBody>
          <a:bodyPr wrap="square">
            <a:spAutoFit/>
          </a:bodyPr>
          <a:lstStyle/>
          <a:p>
            <a:pPr algn="ctr">
              <a:spcBef>
                <a:spcPts val="0"/>
              </a:spcBef>
            </a:pPr>
            <a:r>
              <a:rPr sz="1100" b="0" i="0">
                <a:solidFill>
                  <a:srgbClr val="8A6F5A"/>
                </a:solidFill>
                <a:latin typeface="Calibri"/>
              </a:rPr>
              <a:t>▼</a:t>
            </a:r>
          </a:p>
        </p:txBody>
      </p:sp>
      <p:sp>
        <p:nvSpPr>
          <p:cNvPr id="13" name="Rectangle 12"/>
          <p:cNvSpPr/>
          <p:nvPr/>
        </p:nvSpPr>
        <p:spPr>
          <a:xfrm>
            <a:off x="347472" y="2578608"/>
            <a:ext cx="4114800" cy="914400"/>
          </a:xfrm>
          <a:prstGeom prst="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8912" y="2651760"/>
            <a:ext cx="1249679" cy="731520"/>
          </a:xfrm>
          <a:prstGeom prst="round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 y="2743200"/>
            <a:ext cx="1139952" cy="548640"/>
          </a:xfrm>
          <a:prstGeom prst="rect">
            <a:avLst/>
          </a:prstGeom>
          <a:noFill/>
        </p:spPr>
        <p:txBody>
          <a:bodyPr wrap="square">
            <a:spAutoFit/>
          </a:bodyPr>
          <a:lstStyle/>
          <a:p>
            <a:pPr algn="ctr">
              <a:spcBef>
                <a:spcPts val="0"/>
              </a:spcBef>
            </a:pPr>
            <a:r>
              <a:rPr sz="1300" b="1" i="0">
                <a:solidFill>
                  <a:srgbClr val="FFFFFF"/>
                </a:solidFill>
                <a:latin typeface="Calibri"/>
              </a:rPr>
              <a:t>Empathy
Agent</a:t>
            </a:r>
          </a:p>
        </p:txBody>
      </p:sp>
      <p:sp>
        <p:nvSpPr>
          <p:cNvPr id="16" name="Rounded Rectangle 15"/>
          <p:cNvSpPr/>
          <p:nvPr/>
        </p:nvSpPr>
        <p:spPr>
          <a:xfrm>
            <a:off x="1780032" y="2651760"/>
            <a:ext cx="1249679" cy="731520"/>
          </a:xfrm>
          <a:prstGeom prst="round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34895" y="2743200"/>
            <a:ext cx="1139952" cy="548640"/>
          </a:xfrm>
          <a:prstGeom prst="rect">
            <a:avLst/>
          </a:prstGeom>
          <a:noFill/>
        </p:spPr>
        <p:txBody>
          <a:bodyPr wrap="square">
            <a:spAutoFit/>
          </a:bodyPr>
          <a:lstStyle/>
          <a:p>
            <a:pPr algn="ctr">
              <a:spcBef>
                <a:spcPts val="0"/>
              </a:spcBef>
            </a:pPr>
            <a:r>
              <a:rPr sz="1300" b="1" i="0">
                <a:solidFill>
                  <a:srgbClr val="FFFFFF"/>
                </a:solidFill>
                <a:latin typeface="Calibri"/>
              </a:rPr>
              <a:t>Strategy
Agent</a:t>
            </a:r>
          </a:p>
        </p:txBody>
      </p:sp>
      <p:sp>
        <p:nvSpPr>
          <p:cNvPr id="18" name="Rounded Rectangle 17"/>
          <p:cNvSpPr/>
          <p:nvPr/>
        </p:nvSpPr>
        <p:spPr>
          <a:xfrm>
            <a:off x="3121152" y="2651760"/>
            <a:ext cx="1249679" cy="731520"/>
          </a:xfrm>
          <a:prstGeom prst="roundRect">
            <a:avLst/>
          </a:prstGeom>
          <a:solidFill>
            <a:srgbClr val="8B4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76016" y="2743200"/>
            <a:ext cx="1139952" cy="548640"/>
          </a:xfrm>
          <a:prstGeom prst="rect">
            <a:avLst/>
          </a:prstGeom>
          <a:noFill/>
        </p:spPr>
        <p:txBody>
          <a:bodyPr wrap="square">
            <a:spAutoFit/>
          </a:bodyPr>
          <a:lstStyle/>
          <a:p>
            <a:pPr algn="ctr">
              <a:spcBef>
                <a:spcPts val="0"/>
              </a:spcBef>
            </a:pPr>
            <a:r>
              <a:rPr sz="1300" b="1" i="0">
                <a:solidFill>
                  <a:srgbClr val="FFFFFF"/>
                </a:solidFill>
                <a:latin typeface="Calibri"/>
              </a:rPr>
              <a:t>Safety
Agent</a:t>
            </a:r>
          </a:p>
        </p:txBody>
      </p:sp>
      <p:sp>
        <p:nvSpPr>
          <p:cNvPr id="20" name="TextBox 19"/>
          <p:cNvSpPr txBox="1"/>
          <p:nvPr/>
        </p:nvSpPr>
        <p:spPr>
          <a:xfrm>
            <a:off x="438912" y="3355848"/>
            <a:ext cx="3931920" cy="128016"/>
          </a:xfrm>
          <a:prstGeom prst="rect">
            <a:avLst/>
          </a:prstGeom>
          <a:noFill/>
        </p:spPr>
        <p:txBody>
          <a:bodyPr wrap="square">
            <a:spAutoFit/>
          </a:bodyPr>
          <a:lstStyle/>
          <a:p>
            <a:pPr algn="ctr">
              <a:spcBef>
                <a:spcPts val="0"/>
              </a:spcBef>
            </a:pPr>
            <a:r>
              <a:rPr sz="800" b="0" i="1">
                <a:solidFill>
                  <a:srgbClr val="4A7257"/>
                </a:solidFill>
                <a:latin typeface="Calibri"/>
              </a:rPr>
              <a:t>⟺  run in parallel  ⟺</a:t>
            </a:r>
          </a:p>
        </p:txBody>
      </p:sp>
      <p:sp>
        <p:nvSpPr>
          <p:cNvPr id="21" name="Rectangle 20"/>
          <p:cNvSpPr/>
          <p:nvPr/>
        </p:nvSpPr>
        <p:spPr>
          <a:xfrm>
            <a:off x="2386584" y="3493008"/>
            <a:ext cx="36576" cy="36576"/>
          </a:xfrm>
          <a:prstGeom prst="rect">
            <a:avLst/>
          </a:prstGeom>
          <a:solidFill>
            <a:srgbClr val="8A6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67712" y="3529584"/>
            <a:ext cx="274320" cy="201168"/>
          </a:xfrm>
          <a:prstGeom prst="rect">
            <a:avLst/>
          </a:prstGeom>
          <a:noFill/>
        </p:spPr>
        <p:txBody>
          <a:bodyPr wrap="square">
            <a:spAutoFit/>
          </a:bodyPr>
          <a:lstStyle/>
          <a:p>
            <a:pPr algn="ctr">
              <a:spcBef>
                <a:spcPts val="0"/>
              </a:spcBef>
            </a:pPr>
            <a:r>
              <a:rPr sz="1100" b="0" i="0">
                <a:solidFill>
                  <a:srgbClr val="8A6F5A"/>
                </a:solidFill>
                <a:latin typeface="Calibri"/>
              </a:rPr>
              <a:t>▼</a:t>
            </a:r>
          </a:p>
        </p:txBody>
      </p:sp>
      <p:sp>
        <p:nvSpPr>
          <p:cNvPr id="23" name="Rounded Rectangle 22"/>
          <p:cNvSpPr/>
          <p:nvPr/>
        </p:nvSpPr>
        <p:spPr>
          <a:xfrm>
            <a:off x="347472" y="3694176"/>
            <a:ext cx="4114800" cy="548640"/>
          </a:xfrm>
          <a:prstGeom prst="round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2336" y="3785615"/>
            <a:ext cx="4005072" cy="365759"/>
          </a:xfrm>
          <a:prstGeom prst="rect">
            <a:avLst/>
          </a:prstGeom>
          <a:noFill/>
        </p:spPr>
        <p:txBody>
          <a:bodyPr wrap="square">
            <a:spAutoFit/>
          </a:bodyPr>
          <a:lstStyle/>
          <a:p>
            <a:pPr algn="ctr">
              <a:spcBef>
                <a:spcPts val="0"/>
              </a:spcBef>
            </a:pPr>
            <a:r>
              <a:rPr sz="1300" b="1" i="0">
                <a:solidFill>
                  <a:srgbClr val="FFFFFF"/>
                </a:solidFill>
                <a:latin typeface="Calibri"/>
              </a:rPr>
              <a:t>Coordinator</a:t>
            </a:r>
          </a:p>
        </p:txBody>
      </p:sp>
      <p:sp>
        <p:nvSpPr>
          <p:cNvPr id="25" name="Rectangle 24"/>
          <p:cNvSpPr/>
          <p:nvPr/>
        </p:nvSpPr>
        <p:spPr>
          <a:xfrm>
            <a:off x="2386584" y="4242816"/>
            <a:ext cx="36576" cy="36576"/>
          </a:xfrm>
          <a:prstGeom prst="rect">
            <a:avLst/>
          </a:prstGeom>
          <a:solidFill>
            <a:srgbClr val="8A6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67712" y="4279392"/>
            <a:ext cx="274320" cy="201168"/>
          </a:xfrm>
          <a:prstGeom prst="rect">
            <a:avLst/>
          </a:prstGeom>
          <a:noFill/>
        </p:spPr>
        <p:txBody>
          <a:bodyPr wrap="square">
            <a:spAutoFit/>
          </a:bodyPr>
          <a:lstStyle/>
          <a:p>
            <a:pPr algn="ctr">
              <a:spcBef>
                <a:spcPts val="0"/>
              </a:spcBef>
            </a:pPr>
            <a:r>
              <a:rPr sz="1100" b="0" i="0">
                <a:solidFill>
                  <a:srgbClr val="8A6F5A"/>
                </a:solidFill>
                <a:latin typeface="Calibri"/>
              </a:rPr>
              <a:t>▼</a:t>
            </a:r>
          </a:p>
        </p:txBody>
      </p:sp>
      <p:sp>
        <p:nvSpPr>
          <p:cNvPr id="27" name="Rounded Rectangle 26"/>
          <p:cNvSpPr/>
          <p:nvPr/>
        </p:nvSpPr>
        <p:spPr>
          <a:xfrm>
            <a:off x="347472" y="4443983"/>
            <a:ext cx="4114800" cy="548640"/>
          </a:xfrm>
          <a:prstGeom prst="roundRect">
            <a:avLst/>
          </a:prstGeom>
          <a:solidFill>
            <a:srgbClr val="8A6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2336" y="4535423"/>
            <a:ext cx="4005072" cy="365759"/>
          </a:xfrm>
          <a:prstGeom prst="rect">
            <a:avLst/>
          </a:prstGeom>
          <a:noFill/>
        </p:spPr>
        <p:txBody>
          <a:bodyPr wrap="square">
            <a:spAutoFit/>
          </a:bodyPr>
          <a:lstStyle/>
          <a:p>
            <a:pPr algn="ctr">
              <a:spcBef>
                <a:spcPts val="0"/>
              </a:spcBef>
            </a:pPr>
            <a:r>
              <a:rPr sz="1300" b="1" i="0">
                <a:solidFill>
                  <a:srgbClr val="FFFFFF"/>
                </a:solidFill>
                <a:latin typeface="Calibri"/>
              </a:rPr>
              <a:t>Critic &amp; Reviser</a:t>
            </a:r>
          </a:p>
        </p:txBody>
      </p:sp>
      <p:sp>
        <p:nvSpPr>
          <p:cNvPr id="29" name="Rectangle 28"/>
          <p:cNvSpPr/>
          <p:nvPr/>
        </p:nvSpPr>
        <p:spPr>
          <a:xfrm>
            <a:off x="2386584" y="4992623"/>
            <a:ext cx="36576" cy="36576"/>
          </a:xfrm>
          <a:prstGeom prst="rect">
            <a:avLst/>
          </a:prstGeom>
          <a:solidFill>
            <a:srgbClr val="8A6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67712" y="5029199"/>
            <a:ext cx="274320" cy="201168"/>
          </a:xfrm>
          <a:prstGeom prst="rect">
            <a:avLst/>
          </a:prstGeom>
          <a:noFill/>
        </p:spPr>
        <p:txBody>
          <a:bodyPr wrap="square">
            <a:spAutoFit/>
          </a:bodyPr>
          <a:lstStyle/>
          <a:p>
            <a:pPr algn="ctr">
              <a:spcBef>
                <a:spcPts val="0"/>
              </a:spcBef>
            </a:pPr>
            <a:r>
              <a:rPr sz="1100" b="0" i="0">
                <a:solidFill>
                  <a:srgbClr val="8A6F5A"/>
                </a:solidFill>
                <a:latin typeface="Calibri"/>
              </a:rPr>
              <a:t>▼</a:t>
            </a:r>
          </a:p>
        </p:txBody>
      </p:sp>
      <p:sp>
        <p:nvSpPr>
          <p:cNvPr id="31" name="Rounded Rectangle 30"/>
          <p:cNvSpPr/>
          <p:nvPr/>
        </p:nvSpPr>
        <p:spPr>
          <a:xfrm>
            <a:off x="347472" y="5193791"/>
            <a:ext cx="4114800" cy="548640"/>
          </a:xfrm>
          <a:prstGeom prst="roundRect">
            <a:avLst/>
          </a:prstGeom>
          <a:solidFill>
            <a:srgbClr val="8B4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2336" y="5285231"/>
            <a:ext cx="4005072" cy="365759"/>
          </a:xfrm>
          <a:prstGeom prst="rect">
            <a:avLst/>
          </a:prstGeom>
          <a:noFill/>
        </p:spPr>
        <p:txBody>
          <a:bodyPr wrap="square">
            <a:spAutoFit/>
          </a:bodyPr>
          <a:lstStyle/>
          <a:p>
            <a:pPr algn="ctr">
              <a:spcBef>
                <a:spcPts val="0"/>
              </a:spcBef>
            </a:pPr>
            <a:r>
              <a:rPr sz="1300" b="1" i="0">
                <a:solidFill>
                  <a:srgbClr val="FFFFFF"/>
                </a:solidFill>
                <a:latin typeface="Calibri"/>
              </a:rPr>
              <a:t>Final Safety Check</a:t>
            </a:r>
          </a:p>
        </p:txBody>
      </p:sp>
      <p:sp>
        <p:nvSpPr>
          <p:cNvPr id="33" name="TextBox 32"/>
          <p:cNvSpPr txBox="1"/>
          <p:nvPr/>
        </p:nvSpPr>
        <p:spPr>
          <a:xfrm>
            <a:off x="347472" y="5788151"/>
            <a:ext cx="4114800" cy="320040"/>
          </a:xfrm>
          <a:prstGeom prst="rect">
            <a:avLst/>
          </a:prstGeom>
          <a:noFill/>
        </p:spPr>
        <p:txBody>
          <a:bodyPr wrap="square">
            <a:spAutoFit/>
          </a:bodyPr>
          <a:lstStyle/>
          <a:p>
            <a:pPr algn="ctr">
              <a:spcBef>
                <a:spcPts val="0"/>
              </a:spcBef>
            </a:pPr>
            <a:r>
              <a:rPr sz="1400" b="1" i="0">
                <a:solidFill>
                  <a:srgbClr val="3D2B1F"/>
                </a:solidFill>
                <a:latin typeface="Calibri"/>
              </a:rPr>
              <a:t>↓  Response</a:t>
            </a:r>
          </a:p>
        </p:txBody>
      </p:sp>
      <p:sp>
        <p:nvSpPr>
          <p:cNvPr id="34" name="Rounded Rectangle 33"/>
          <p:cNvSpPr/>
          <p:nvPr/>
        </p:nvSpPr>
        <p:spPr>
          <a:xfrm>
            <a:off x="4754880" y="1078992"/>
            <a:ext cx="7086600" cy="160020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19472" y="1216151"/>
            <a:ext cx="6757416" cy="1325880"/>
          </a:xfrm>
          <a:prstGeom prst="rect">
            <a:avLst/>
          </a:prstGeom>
          <a:noFill/>
        </p:spPr>
        <p:txBody>
          <a:bodyPr wrap="square">
            <a:spAutoFit/>
          </a:bodyPr>
          <a:lstStyle/>
          <a:p>
            <a:pPr algn="l">
              <a:spcBef>
                <a:spcPts val="0"/>
              </a:spcBef>
            </a:pPr>
            <a:r>
              <a:rPr sz="1500" b="1" i="0">
                <a:solidFill>
                  <a:srgbClr val="4A7257"/>
                </a:solidFill>
                <a:latin typeface="Calibri"/>
              </a:rPr>
              <a:t>🧠  CBT Session Stages</a:t>
            </a:r>
          </a:p>
          <a:p>
            <a:pPr algn="l">
              <a:spcBef>
                <a:spcPts val="500"/>
              </a:spcBef>
            </a:pPr>
            <a:r>
              <a:rPr sz="1300" b="0" i="0">
                <a:solidFill>
                  <a:srgbClr val="3D2B1F"/>
                </a:solidFill>
                <a:latin typeface="Calibri"/>
              </a:rPr>
              <a:t>Rapport → Exploration → Reframe → Action</a:t>
            </a:r>
          </a:p>
          <a:p>
            <a:pPr algn="l">
              <a:spcBef>
                <a:spcPts val="300"/>
              </a:spcBef>
            </a:pPr>
            <a:r>
              <a:rPr sz="1300" b="0" i="0">
                <a:solidFill>
                  <a:srgbClr val="3D2B1F"/>
                </a:solidFill>
                <a:latin typeface="Calibri"/>
              </a:rPr>
              <a:t>One micro-move per turn — adapts to conversation stage</a:t>
            </a:r>
          </a:p>
          <a:p>
            <a:pPr algn="l">
              <a:spcBef>
                <a:spcPts val="300"/>
              </a:spcBef>
            </a:pPr>
            <a:r>
              <a:rPr sz="1300" b="0" i="0">
                <a:solidFill>
                  <a:srgbClr val="3D2B1F"/>
                </a:solidFill>
                <a:latin typeface="Calibri"/>
              </a:rPr>
              <a:t>Socratic questioning  ·  Cognitive reframing  ·  Behavioral activation</a:t>
            </a:r>
          </a:p>
        </p:txBody>
      </p:sp>
      <p:sp>
        <p:nvSpPr>
          <p:cNvPr id="36" name="Rounded Rectangle 35"/>
          <p:cNvSpPr/>
          <p:nvPr/>
        </p:nvSpPr>
        <p:spPr>
          <a:xfrm>
            <a:off x="4754880" y="2770632"/>
            <a:ext cx="7086600" cy="160020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19472" y="2907792"/>
            <a:ext cx="6757416" cy="1325880"/>
          </a:xfrm>
          <a:prstGeom prst="rect">
            <a:avLst/>
          </a:prstGeom>
          <a:noFill/>
        </p:spPr>
        <p:txBody>
          <a:bodyPr wrap="square">
            <a:spAutoFit/>
          </a:bodyPr>
          <a:lstStyle/>
          <a:p>
            <a:pPr algn="l">
              <a:spcBef>
                <a:spcPts val="0"/>
              </a:spcBef>
            </a:pPr>
            <a:r>
              <a:rPr sz="1500" b="1" i="0">
                <a:solidFill>
                  <a:srgbClr val="C1603A"/>
                </a:solidFill>
                <a:latin typeface="Calibri"/>
              </a:rPr>
              <a:t>🛡️  Safety Architecture</a:t>
            </a:r>
          </a:p>
          <a:p>
            <a:pPr algn="l">
              <a:spcBef>
                <a:spcPts val="500"/>
              </a:spcBef>
            </a:pPr>
            <a:r>
              <a:rPr sz="1300" b="0" i="0">
                <a:solidFill>
                  <a:srgbClr val="3D2B1F"/>
                </a:solidFill>
                <a:latin typeface="Calibri"/>
              </a:rPr>
              <a:t>Keyword scan + LLM safety agent — high-recall crisis detection</a:t>
            </a:r>
          </a:p>
          <a:p>
            <a:pPr algn="l">
              <a:spcBef>
                <a:spcPts val="300"/>
              </a:spcBef>
            </a:pPr>
            <a:r>
              <a:rPr sz="1300" b="0" i="0">
                <a:solidFill>
                  <a:srgbClr val="3D2B1F"/>
                </a:solidFill>
                <a:latin typeface="Calibri"/>
              </a:rPr>
              <a:t>100% recall on labeled high-risk cases in evaluation</a:t>
            </a:r>
          </a:p>
          <a:p>
            <a:pPr algn="l">
              <a:spcBef>
                <a:spcPts val="300"/>
              </a:spcBef>
            </a:pPr>
            <a:r>
              <a:rPr sz="1300" b="0" i="0">
                <a:solidFill>
                  <a:srgbClr val="3D2B1F"/>
                </a:solidFill>
                <a:latin typeface="Calibri"/>
              </a:rPr>
              <a:t>Auto-escalation: compassionate validation + resource referral</a:t>
            </a:r>
          </a:p>
        </p:txBody>
      </p:sp>
      <p:sp>
        <p:nvSpPr>
          <p:cNvPr id="38" name="Rounded Rectangle 37"/>
          <p:cNvSpPr/>
          <p:nvPr/>
        </p:nvSpPr>
        <p:spPr>
          <a:xfrm>
            <a:off x="4754880" y="4462272"/>
            <a:ext cx="7086600" cy="160020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19472" y="4599432"/>
            <a:ext cx="6757416" cy="1325880"/>
          </a:xfrm>
          <a:prstGeom prst="rect">
            <a:avLst/>
          </a:prstGeom>
          <a:noFill/>
        </p:spPr>
        <p:txBody>
          <a:bodyPr wrap="square">
            <a:spAutoFit/>
          </a:bodyPr>
          <a:lstStyle/>
          <a:p>
            <a:pPr algn="l">
              <a:spcBef>
                <a:spcPts val="0"/>
              </a:spcBef>
            </a:pPr>
            <a:r>
              <a:rPr sz="1500" b="1" i="0">
                <a:solidFill>
                  <a:srgbClr val="4A7257"/>
                </a:solidFill>
                <a:latin typeface="Calibri"/>
              </a:rPr>
              <a:t>⚙️  Quality Control Loop</a:t>
            </a:r>
          </a:p>
          <a:p>
            <a:pPr algn="l">
              <a:spcBef>
                <a:spcPts val="500"/>
              </a:spcBef>
            </a:pPr>
            <a:r>
              <a:rPr sz="1300" b="0" i="0">
                <a:solidFill>
                  <a:srgbClr val="3D2B1F"/>
                </a:solidFill>
                <a:latin typeface="Calibri"/>
              </a:rPr>
              <a:t>Critic evaluates draft for empathy, coherence &amp; safety</a:t>
            </a:r>
          </a:p>
          <a:p>
            <a:pPr algn="l">
              <a:spcBef>
                <a:spcPts val="300"/>
              </a:spcBef>
            </a:pPr>
            <a:r>
              <a:rPr sz="1300" b="0" i="0">
                <a:solidFill>
                  <a:srgbClr val="3D2B1F"/>
                </a:solidFill>
                <a:latin typeface="Calibri"/>
              </a:rPr>
              <a:t>Reviser rewrites to sound natural — not clinical or robotic</a:t>
            </a:r>
          </a:p>
          <a:p>
            <a:pPr algn="l">
              <a:spcBef>
                <a:spcPts val="300"/>
              </a:spcBef>
            </a:pPr>
            <a:r>
              <a:rPr sz="1300" b="0" i="0">
                <a:solidFill>
                  <a:srgbClr val="3D2B1F"/>
                </a:solidFill>
                <a:latin typeface="Calibri"/>
              </a:rPr>
              <a:t>Final safety gate checks every response before delivery</a:t>
            </a:r>
          </a:p>
        </p:txBody>
      </p:sp>
      <p:sp>
        <p:nvSpPr>
          <p:cNvPr id="40" name="Rectangle 39"/>
          <p:cNvSpPr/>
          <p:nvPr/>
        </p:nvSpPr>
        <p:spPr>
          <a:xfrm>
            <a:off x="0" y="6236208"/>
            <a:ext cx="12188952" cy="621792"/>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6336792"/>
            <a:ext cx="11247120" cy="438912"/>
          </a:xfrm>
          <a:prstGeom prst="rect">
            <a:avLst/>
          </a:prstGeom>
          <a:noFill/>
        </p:spPr>
        <p:txBody>
          <a:bodyPr wrap="square">
            <a:spAutoFit/>
          </a:bodyPr>
          <a:lstStyle/>
          <a:p>
            <a:pPr algn="ctr">
              <a:spcBef>
                <a:spcPts val="0"/>
              </a:spcBef>
            </a:pPr>
            <a:r>
              <a:rPr sz="1300" b="0" i="0">
                <a:solidFill>
                  <a:srgbClr val="3D2B1F"/>
                </a:solidFill>
                <a:latin typeface="Calibri"/>
              </a:rPr>
              <a:t>Backbone: GPT-4.1-mini   ·   Vector RAG (support KB)   ·   Session memory   ·   Streamlit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247120" cy="685800"/>
          </a:xfrm>
          <a:prstGeom prst="rect">
            <a:avLst/>
          </a:prstGeom>
          <a:noFill/>
        </p:spPr>
        <p:txBody>
          <a:bodyPr wrap="square">
            <a:spAutoFit/>
          </a:bodyPr>
          <a:lstStyle/>
          <a:p>
            <a:pPr algn="l">
              <a:spcBef>
                <a:spcPts val="0"/>
              </a:spcBef>
            </a:pPr>
            <a:r>
              <a:rPr sz="3400" b="1" i="0">
                <a:solidFill>
                  <a:srgbClr val="3D2B1F"/>
                </a:solidFill>
                <a:latin typeface="Calibri"/>
              </a:rPr>
              <a:t>Evaluation Setup</a:t>
            </a:r>
          </a:p>
        </p:txBody>
      </p:sp>
      <p:sp>
        <p:nvSpPr>
          <p:cNvPr id="4" name="Rectangle 3"/>
          <p:cNvSpPr/>
          <p:nvPr/>
        </p:nvSpPr>
        <p:spPr>
          <a:xfrm>
            <a:off x="502920" y="987552"/>
            <a:ext cx="11247120" cy="36576"/>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143000"/>
            <a:ext cx="5212080" cy="384048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98448"/>
            <a:ext cx="4846320" cy="3566160"/>
          </a:xfrm>
          <a:prstGeom prst="rect">
            <a:avLst/>
          </a:prstGeom>
          <a:noFill/>
        </p:spPr>
        <p:txBody>
          <a:bodyPr wrap="square">
            <a:spAutoFit/>
          </a:bodyPr>
          <a:lstStyle/>
          <a:p>
            <a:pPr algn="l">
              <a:spcBef>
                <a:spcPts val="0"/>
              </a:spcBef>
            </a:pPr>
            <a:r>
              <a:rPr sz="1900" b="1" i="0">
                <a:solidFill>
                  <a:srgbClr val="C1603A"/>
                </a:solidFill>
                <a:latin typeface="Calibri"/>
              </a:rPr>
              <a:t>📋  Dataset</a:t>
            </a:r>
          </a:p>
          <a:p>
            <a:pPr algn="l">
              <a:spcBef>
                <a:spcPts val="700"/>
              </a:spcBef>
            </a:pPr>
            <a:r>
              <a:rPr sz="1350" b="0" i="0">
                <a:solidFill>
                  <a:srgbClr val="3D2B1F"/>
                </a:solidFill>
                <a:latin typeface="Calibri"/>
              </a:rPr>
              <a:t>  ·  48 evaluation cases total</a:t>
            </a:r>
          </a:p>
          <a:p>
            <a:pPr algn="l">
              <a:spcBef>
                <a:spcPts val="700"/>
              </a:spcBef>
            </a:pPr>
            <a:r>
              <a:rPr sz="1350" b="0" i="0">
                <a:solidFill>
                  <a:srgbClr val="3D2B1F"/>
                </a:solidFill>
                <a:latin typeface="Calibri"/>
              </a:rPr>
              <a:t>  ·  15 low-risk cases  (main eval, 6 runners)</a:t>
            </a:r>
          </a:p>
          <a:p>
            <a:pPr algn="l">
              <a:spcBef>
                <a:spcPts val="700"/>
              </a:spcBef>
            </a:pPr>
            <a:r>
              <a:rPr sz="1350" b="0" i="0">
                <a:solidFill>
                  <a:srgbClr val="3D2B1F"/>
                </a:solidFill>
                <a:latin typeface="Calibri"/>
              </a:rPr>
              <a:t>  ·  24 medium + high-risk cases  (highrisk eval)</a:t>
            </a:r>
          </a:p>
          <a:p>
            <a:pPr algn="l">
              <a:spcBef>
                <a:spcPts val="700"/>
              </a:spcBef>
            </a:pPr>
            <a:r>
              <a:rPr sz="1350" b="0" i="0">
                <a:solidFill>
                  <a:srgbClr val="3D2B1F"/>
                </a:solidFill>
                <a:latin typeface="Calibri"/>
              </a:rPr>
              <a:t>  ·  Topics: job search, sleep, family, loneliness, academic stress, social anxiety, crisis</a:t>
            </a:r>
          </a:p>
          <a:p>
            <a:pPr algn="l">
              <a:spcBef>
                <a:spcPts val="700"/>
              </a:spcBef>
            </a:pPr>
            <a:r>
              <a:rPr sz="1350" b="0" i="0">
                <a:solidFill>
                  <a:srgbClr val="3D2B1F"/>
                </a:solidFill>
                <a:latin typeface="Calibri"/>
              </a:rPr>
              <a:t>  ·  Single-turn user utterance per case</a:t>
            </a:r>
          </a:p>
        </p:txBody>
      </p:sp>
      <p:sp>
        <p:nvSpPr>
          <p:cNvPr id="7" name="Rounded Rectangle 6"/>
          <p:cNvSpPr/>
          <p:nvPr/>
        </p:nvSpPr>
        <p:spPr>
          <a:xfrm>
            <a:off x="6035040" y="1143000"/>
            <a:ext cx="5669280" cy="242316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1298448"/>
            <a:ext cx="5303520" cy="2194560"/>
          </a:xfrm>
          <a:prstGeom prst="rect">
            <a:avLst/>
          </a:prstGeom>
          <a:noFill/>
        </p:spPr>
        <p:txBody>
          <a:bodyPr wrap="square">
            <a:spAutoFit/>
          </a:bodyPr>
          <a:lstStyle/>
          <a:p>
            <a:pPr algn="l">
              <a:spcBef>
                <a:spcPts val="0"/>
              </a:spcBef>
            </a:pPr>
            <a:r>
              <a:rPr sz="1700" b="1" i="0">
                <a:solidFill>
                  <a:srgbClr val="4A7257"/>
                </a:solidFill>
                <a:latin typeface="Calibri"/>
              </a:rPr>
              <a:t>⚖️  LLM-as-Judge  (GPT-4.1-mini)</a:t>
            </a:r>
          </a:p>
          <a:p>
            <a:pPr algn="l">
              <a:spcBef>
                <a:spcPts val="500"/>
              </a:spcBef>
            </a:pPr>
            <a:r>
              <a:rPr sz="1350" b="0" i="0">
                <a:solidFill>
                  <a:srgbClr val="3D2B1F"/>
                </a:solidFill>
                <a:latin typeface="Calibri"/>
              </a:rPr>
              <a:t>  ✦  Empathy  (1–5)</a:t>
            </a:r>
          </a:p>
          <a:p>
            <a:pPr algn="l">
              <a:spcBef>
                <a:spcPts val="500"/>
              </a:spcBef>
            </a:pPr>
            <a:r>
              <a:rPr sz="1350" b="0" i="0">
                <a:solidFill>
                  <a:srgbClr val="3D2B1F"/>
                </a:solidFill>
                <a:latin typeface="Calibri"/>
              </a:rPr>
              <a:t>  ✦  Helpfulness  (1–5)</a:t>
            </a:r>
          </a:p>
          <a:p>
            <a:pPr algn="l">
              <a:spcBef>
                <a:spcPts val="500"/>
              </a:spcBef>
            </a:pPr>
            <a:r>
              <a:rPr sz="1350" b="0" i="0">
                <a:solidFill>
                  <a:srgbClr val="3D2B1F"/>
                </a:solidFill>
                <a:latin typeface="Calibri"/>
              </a:rPr>
              <a:t>  ✦  Safety  (1–5)</a:t>
            </a:r>
          </a:p>
          <a:p>
            <a:pPr algn="l">
              <a:spcBef>
                <a:spcPts val="500"/>
              </a:spcBef>
            </a:pPr>
            <a:r>
              <a:rPr sz="1350" b="0" i="0">
                <a:solidFill>
                  <a:srgbClr val="3D2B1F"/>
                </a:solidFill>
                <a:latin typeface="Calibri"/>
              </a:rPr>
              <a:t>  ✦  Naturalness  (1–5)</a:t>
            </a:r>
          </a:p>
          <a:p>
            <a:pPr algn="l">
              <a:spcBef>
                <a:spcPts val="500"/>
              </a:spcBef>
            </a:pPr>
            <a:r>
              <a:rPr sz="1350" b="0" i="0">
                <a:solidFill>
                  <a:srgbClr val="3D2B1F"/>
                </a:solidFill>
                <a:latin typeface="Calibri"/>
              </a:rPr>
              <a:t>  ✦  Pairwise preference  (pipeline vs baseline)</a:t>
            </a:r>
          </a:p>
        </p:txBody>
      </p:sp>
      <p:sp>
        <p:nvSpPr>
          <p:cNvPr id="9" name="Rounded Rectangle 8"/>
          <p:cNvSpPr/>
          <p:nvPr/>
        </p:nvSpPr>
        <p:spPr>
          <a:xfrm>
            <a:off x="6035040" y="3749039"/>
            <a:ext cx="5669280" cy="306324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3904487"/>
            <a:ext cx="5303520" cy="2743200"/>
          </a:xfrm>
          <a:prstGeom prst="rect">
            <a:avLst/>
          </a:prstGeom>
          <a:noFill/>
        </p:spPr>
        <p:txBody>
          <a:bodyPr wrap="square">
            <a:spAutoFit/>
          </a:bodyPr>
          <a:lstStyle/>
          <a:p>
            <a:pPr algn="l">
              <a:spcBef>
                <a:spcPts val="0"/>
              </a:spcBef>
            </a:pPr>
            <a:r>
              <a:rPr sz="1700" b="1" i="0">
                <a:solidFill>
                  <a:srgbClr val="C1603A"/>
                </a:solidFill>
                <a:latin typeface="Calibri"/>
              </a:rPr>
              <a:t>🔬  Statistical Methods</a:t>
            </a:r>
          </a:p>
          <a:p>
            <a:pPr algn="l">
              <a:spcBef>
                <a:spcPts val="700"/>
              </a:spcBef>
            </a:pPr>
            <a:r>
              <a:rPr sz="1350" b="0" i="0">
                <a:solidFill>
                  <a:srgbClr val="3D2B1F"/>
                </a:solidFill>
                <a:latin typeface="Calibri"/>
              </a:rPr>
              <a:t>  ·  Paired bootstrap CI  (2 000 samples, 95%)</a:t>
            </a:r>
          </a:p>
          <a:p>
            <a:pPr algn="l">
              <a:spcBef>
                <a:spcPts val="700"/>
              </a:spcBef>
            </a:pPr>
            <a:r>
              <a:rPr sz="1350" b="0" i="0">
                <a:solidFill>
                  <a:srgbClr val="3D2B1F"/>
                </a:solidFill>
                <a:latin typeface="Calibri"/>
              </a:rPr>
              <a:t>  ·  Pairwise preference judging per case pair</a:t>
            </a:r>
          </a:p>
          <a:p>
            <a:pPr algn="l">
              <a:spcBef>
                <a:spcPts val="700"/>
              </a:spcBef>
            </a:pPr>
            <a:r>
              <a:rPr sz="1350" b="0" i="0">
                <a:solidFill>
                  <a:srgbClr val="3D2B1F"/>
                </a:solidFill>
                <a:latin typeface="Calibri"/>
              </a:rPr>
              <a:t>  ·  Safety recall on labeled high-risk cases</a:t>
            </a:r>
          </a:p>
          <a:p>
            <a:pPr algn="l">
              <a:spcBef>
                <a:spcPts val="700"/>
              </a:spcBef>
            </a:pPr>
            <a:r>
              <a:rPr sz="1350" b="0" i="0">
                <a:solidFill>
                  <a:srgbClr val="3D2B1F"/>
                </a:solidFill>
                <a:latin typeface="Calibri"/>
              </a:rPr>
              <a:t>  ·  Ablation: remove one component at a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247120" cy="685800"/>
          </a:xfrm>
          <a:prstGeom prst="rect">
            <a:avLst/>
          </a:prstGeom>
          <a:noFill/>
        </p:spPr>
        <p:txBody>
          <a:bodyPr wrap="square">
            <a:spAutoFit/>
          </a:bodyPr>
          <a:lstStyle/>
          <a:p>
            <a:pPr algn="l">
              <a:spcBef>
                <a:spcPts val="0"/>
              </a:spcBef>
            </a:pPr>
            <a:r>
              <a:rPr sz="3400" b="1" i="0">
                <a:solidFill>
                  <a:srgbClr val="3D2B1F"/>
                </a:solidFill>
                <a:latin typeface="Calibri"/>
              </a:rPr>
              <a:t>Results: Low-Risk Cases  (n = 15)</a:t>
            </a:r>
          </a:p>
        </p:txBody>
      </p:sp>
      <p:sp>
        <p:nvSpPr>
          <p:cNvPr id="4" name="Rectangle 3"/>
          <p:cNvSpPr/>
          <p:nvPr/>
        </p:nvSpPr>
        <p:spPr>
          <a:xfrm>
            <a:off x="502920" y="987552"/>
            <a:ext cx="11247120" cy="36576"/>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143000"/>
            <a:ext cx="3383280" cy="201168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80160"/>
            <a:ext cx="3200400" cy="1737360"/>
          </a:xfrm>
          <a:prstGeom prst="rect">
            <a:avLst/>
          </a:prstGeom>
          <a:noFill/>
        </p:spPr>
        <p:txBody>
          <a:bodyPr wrap="square">
            <a:spAutoFit/>
          </a:bodyPr>
          <a:lstStyle/>
          <a:p>
            <a:pPr algn="ctr">
              <a:spcBef>
                <a:spcPts val="0"/>
              </a:spcBef>
            </a:pPr>
            <a:r>
              <a:rPr sz="5200" b="1" i="0">
                <a:solidFill>
                  <a:srgbClr val="4A7257"/>
                </a:solidFill>
                <a:latin typeface="Calibri"/>
              </a:rPr>
              <a:t>87%</a:t>
            </a:r>
          </a:p>
          <a:p>
            <a:pPr algn="ctr">
              <a:spcBef>
                <a:spcPts val="0"/>
              </a:spcBef>
            </a:pPr>
            <a:r>
              <a:rPr sz="1400" b="0" i="0">
                <a:solidFill>
                  <a:srgbClr val="3D2B1F"/>
                </a:solidFill>
                <a:latin typeface="Calibri"/>
              </a:rPr>
              <a:t>pairwise win rate
(13 / 15 cases)</a:t>
            </a:r>
          </a:p>
        </p:txBody>
      </p:sp>
      <p:sp>
        <p:nvSpPr>
          <p:cNvPr id="7" name="Rectangle 6"/>
          <p:cNvSpPr/>
          <p:nvPr/>
        </p:nvSpPr>
        <p:spPr>
          <a:xfrm>
            <a:off x="4160520" y="1143000"/>
            <a:ext cx="2295144" cy="402336"/>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0" y="1207008"/>
            <a:ext cx="2240279" cy="274320"/>
          </a:xfrm>
          <a:prstGeom prst="rect">
            <a:avLst/>
          </a:prstGeom>
          <a:noFill/>
        </p:spPr>
        <p:txBody>
          <a:bodyPr wrap="square">
            <a:spAutoFit/>
          </a:bodyPr>
          <a:lstStyle/>
          <a:p>
            <a:pPr algn="ctr">
              <a:spcBef>
                <a:spcPts val="0"/>
              </a:spcBef>
            </a:pPr>
            <a:r>
              <a:rPr sz="1200" b="1" i="0">
                <a:solidFill>
                  <a:srgbClr val="FFFFFF"/>
                </a:solidFill>
                <a:latin typeface="Calibri"/>
              </a:rPr>
              <a:t>System</a:t>
            </a:r>
          </a:p>
        </p:txBody>
      </p:sp>
      <p:sp>
        <p:nvSpPr>
          <p:cNvPr id="9" name="Rectangle 8"/>
          <p:cNvSpPr/>
          <p:nvPr/>
        </p:nvSpPr>
        <p:spPr>
          <a:xfrm>
            <a:off x="6492240" y="1143000"/>
            <a:ext cx="1106424" cy="402336"/>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59" y="1207008"/>
            <a:ext cx="1051560" cy="274320"/>
          </a:xfrm>
          <a:prstGeom prst="rect">
            <a:avLst/>
          </a:prstGeom>
          <a:noFill/>
        </p:spPr>
        <p:txBody>
          <a:bodyPr wrap="square">
            <a:spAutoFit/>
          </a:bodyPr>
          <a:lstStyle/>
          <a:p>
            <a:pPr algn="ctr">
              <a:spcBef>
                <a:spcPts val="0"/>
              </a:spcBef>
            </a:pPr>
            <a:r>
              <a:rPr sz="1200" b="1" i="0">
                <a:solidFill>
                  <a:srgbClr val="FFFFFF"/>
                </a:solidFill>
                <a:latin typeface="Calibri"/>
              </a:rPr>
              <a:t>Empathy</a:t>
            </a:r>
          </a:p>
        </p:txBody>
      </p:sp>
      <p:sp>
        <p:nvSpPr>
          <p:cNvPr id="11" name="Rectangle 10"/>
          <p:cNvSpPr/>
          <p:nvPr/>
        </p:nvSpPr>
        <p:spPr>
          <a:xfrm>
            <a:off x="7635240" y="1143000"/>
            <a:ext cx="1106424" cy="402336"/>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1207008"/>
            <a:ext cx="1051560" cy="274320"/>
          </a:xfrm>
          <a:prstGeom prst="rect">
            <a:avLst/>
          </a:prstGeom>
          <a:noFill/>
        </p:spPr>
        <p:txBody>
          <a:bodyPr wrap="square">
            <a:spAutoFit/>
          </a:bodyPr>
          <a:lstStyle/>
          <a:p>
            <a:pPr algn="ctr">
              <a:spcBef>
                <a:spcPts val="0"/>
              </a:spcBef>
            </a:pPr>
            <a:r>
              <a:rPr sz="1200" b="1" i="0">
                <a:solidFill>
                  <a:srgbClr val="FFFFFF"/>
                </a:solidFill>
                <a:latin typeface="Calibri"/>
              </a:rPr>
              <a:t>Helpful</a:t>
            </a:r>
          </a:p>
        </p:txBody>
      </p:sp>
      <p:sp>
        <p:nvSpPr>
          <p:cNvPr id="13" name="Rectangle 12"/>
          <p:cNvSpPr/>
          <p:nvPr/>
        </p:nvSpPr>
        <p:spPr>
          <a:xfrm>
            <a:off x="8778240" y="1143000"/>
            <a:ext cx="969264" cy="402336"/>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3960" y="1207008"/>
            <a:ext cx="914400" cy="274320"/>
          </a:xfrm>
          <a:prstGeom prst="rect">
            <a:avLst/>
          </a:prstGeom>
          <a:noFill/>
        </p:spPr>
        <p:txBody>
          <a:bodyPr wrap="square">
            <a:spAutoFit/>
          </a:bodyPr>
          <a:lstStyle/>
          <a:p>
            <a:pPr algn="ctr">
              <a:spcBef>
                <a:spcPts val="0"/>
              </a:spcBef>
            </a:pPr>
            <a:r>
              <a:rPr sz="1200" b="1" i="0">
                <a:solidFill>
                  <a:srgbClr val="FFFFFF"/>
                </a:solidFill>
                <a:latin typeface="Calibri"/>
              </a:rPr>
              <a:t>Safety</a:t>
            </a:r>
          </a:p>
        </p:txBody>
      </p:sp>
      <p:sp>
        <p:nvSpPr>
          <p:cNvPr id="15" name="Rectangle 14"/>
          <p:cNvSpPr/>
          <p:nvPr/>
        </p:nvSpPr>
        <p:spPr>
          <a:xfrm>
            <a:off x="9784080" y="1143000"/>
            <a:ext cx="1152144" cy="402336"/>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29800" y="1207008"/>
            <a:ext cx="1097280" cy="274320"/>
          </a:xfrm>
          <a:prstGeom prst="rect">
            <a:avLst/>
          </a:prstGeom>
          <a:noFill/>
        </p:spPr>
        <p:txBody>
          <a:bodyPr wrap="square">
            <a:spAutoFit/>
          </a:bodyPr>
          <a:lstStyle/>
          <a:p>
            <a:pPr algn="ctr">
              <a:spcBef>
                <a:spcPts val="0"/>
              </a:spcBef>
            </a:pPr>
            <a:r>
              <a:rPr sz="1200" b="1" i="0">
                <a:solidFill>
                  <a:srgbClr val="FFFFFF"/>
                </a:solidFill>
                <a:latin typeface="Calibri"/>
              </a:rPr>
              <a:t>Natural</a:t>
            </a:r>
          </a:p>
        </p:txBody>
      </p:sp>
      <p:sp>
        <p:nvSpPr>
          <p:cNvPr id="17" name="Rectangle 16"/>
          <p:cNvSpPr/>
          <p:nvPr/>
        </p:nvSpPr>
        <p:spPr>
          <a:xfrm>
            <a:off x="10972800" y="1143000"/>
            <a:ext cx="1106424" cy="402336"/>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18520" y="1207008"/>
            <a:ext cx="1051560" cy="274320"/>
          </a:xfrm>
          <a:prstGeom prst="rect">
            <a:avLst/>
          </a:prstGeom>
          <a:noFill/>
        </p:spPr>
        <p:txBody>
          <a:bodyPr wrap="square">
            <a:spAutoFit/>
          </a:bodyPr>
          <a:lstStyle/>
          <a:p>
            <a:pPr algn="ctr">
              <a:spcBef>
                <a:spcPts val="0"/>
              </a:spcBef>
            </a:pPr>
            <a:r>
              <a:rPr sz="1200" b="1" i="0">
                <a:solidFill>
                  <a:srgbClr val="FFFFFF"/>
                </a:solidFill>
                <a:latin typeface="Calibri"/>
              </a:rPr>
              <a:t>Overall</a:t>
            </a:r>
          </a:p>
        </p:txBody>
      </p:sp>
      <p:sp>
        <p:nvSpPr>
          <p:cNvPr id="19" name="Rectangle 18"/>
          <p:cNvSpPr/>
          <p:nvPr/>
        </p:nvSpPr>
        <p:spPr>
          <a:xfrm>
            <a:off x="4160520" y="1545336"/>
            <a:ext cx="2295144" cy="384048"/>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1618488"/>
            <a:ext cx="2240279" cy="256032"/>
          </a:xfrm>
          <a:prstGeom prst="rect">
            <a:avLst/>
          </a:prstGeom>
          <a:noFill/>
        </p:spPr>
        <p:txBody>
          <a:bodyPr wrap="square">
            <a:spAutoFit/>
          </a:bodyPr>
          <a:lstStyle/>
          <a:p>
            <a:pPr algn="l">
              <a:spcBef>
                <a:spcPts val="0"/>
              </a:spcBef>
            </a:pPr>
            <a:r>
              <a:rPr sz="1200" b="0" i="0">
                <a:solidFill>
                  <a:srgbClr val="3D2B1F"/>
                </a:solidFill>
                <a:latin typeface="Calibri"/>
              </a:rPr>
              <a:t>Full Pipeline</a:t>
            </a:r>
          </a:p>
        </p:txBody>
      </p:sp>
      <p:sp>
        <p:nvSpPr>
          <p:cNvPr id="21" name="Rectangle 20"/>
          <p:cNvSpPr/>
          <p:nvPr/>
        </p:nvSpPr>
        <p:spPr>
          <a:xfrm>
            <a:off x="6492240" y="1545336"/>
            <a:ext cx="1106424" cy="384048"/>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59" y="1618488"/>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4.53</a:t>
            </a:r>
          </a:p>
        </p:txBody>
      </p:sp>
      <p:sp>
        <p:nvSpPr>
          <p:cNvPr id="23" name="Rectangle 22"/>
          <p:cNvSpPr/>
          <p:nvPr/>
        </p:nvSpPr>
        <p:spPr>
          <a:xfrm>
            <a:off x="7635240" y="1545336"/>
            <a:ext cx="1106424" cy="384048"/>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1618488"/>
            <a:ext cx="1051560" cy="256032"/>
          </a:xfrm>
          <a:prstGeom prst="rect">
            <a:avLst/>
          </a:prstGeom>
          <a:noFill/>
        </p:spPr>
        <p:txBody>
          <a:bodyPr wrap="square">
            <a:spAutoFit/>
          </a:bodyPr>
          <a:lstStyle/>
          <a:p>
            <a:pPr algn="ctr">
              <a:spcBef>
                <a:spcPts val="0"/>
              </a:spcBef>
            </a:pPr>
            <a:r>
              <a:rPr sz="1200" b="0" i="0">
                <a:solidFill>
                  <a:srgbClr val="3D2B1F"/>
                </a:solidFill>
                <a:latin typeface="Calibri"/>
              </a:rPr>
              <a:t>3.87</a:t>
            </a:r>
          </a:p>
        </p:txBody>
      </p:sp>
      <p:sp>
        <p:nvSpPr>
          <p:cNvPr id="25" name="Rectangle 24"/>
          <p:cNvSpPr/>
          <p:nvPr/>
        </p:nvSpPr>
        <p:spPr>
          <a:xfrm>
            <a:off x="8778240" y="1545336"/>
            <a:ext cx="969264" cy="384048"/>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1618488"/>
            <a:ext cx="914400" cy="256032"/>
          </a:xfrm>
          <a:prstGeom prst="rect">
            <a:avLst/>
          </a:prstGeom>
          <a:noFill/>
        </p:spPr>
        <p:txBody>
          <a:bodyPr wrap="square">
            <a:spAutoFit/>
          </a:bodyPr>
          <a:lstStyle/>
          <a:p>
            <a:pPr algn="ctr">
              <a:spcBef>
                <a:spcPts val="0"/>
              </a:spcBef>
            </a:pPr>
            <a:r>
              <a:rPr sz="1200" b="0" i="0">
                <a:solidFill>
                  <a:srgbClr val="3D2B1F"/>
                </a:solidFill>
                <a:latin typeface="Calibri"/>
              </a:rPr>
              <a:t>5.00</a:t>
            </a:r>
          </a:p>
        </p:txBody>
      </p:sp>
      <p:sp>
        <p:nvSpPr>
          <p:cNvPr id="27" name="Rectangle 26"/>
          <p:cNvSpPr/>
          <p:nvPr/>
        </p:nvSpPr>
        <p:spPr>
          <a:xfrm>
            <a:off x="9784080" y="1545336"/>
            <a:ext cx="1152144" cy="384048"/>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9800" y="1618488"/>
            <a:ext cx="1097280" cy="256032"/>
          </a:xfrm>
          <a:prstGeom prst="rect">
            <a:avLst/>
          </a:prstGeom>
          <a:noFill/>
        </p:spPr>
        <p:txBody>
          <a:bodyPr wrap="square">
            <a:spAutoFit/>
          </a:bodyPr>
          <a:lstStyle/>
          <a:p>
            <a:pPr algn="ctr">
              <a:spcBef>
                <a:spcPts val="0"/>
              </a:spcBef>
            </a:pPr>
            <a:r>
              <a:rPr sz="1200" b="0" i="0">
                <a:solidFill>
                  <a:srgbClr val="3D2B1F"/>
                </a:solidFill>
                <a:latin typeface="Calibri"/>
              </a:rPr>
              <a:t>4.53</a:t>
            </a:r>
          </a:p>
        </p:txBody>
      </p:sp>
      <p:sp>
        <p:nvSpPr>
          <p:cNvPr id="29" name="Rectangle 28"/>
          <p:cNvSpPr/>
          <p:nvPr/>
        </p:nvSpPr>
        <p:spPr>
          <a:xfrm>
            <a:off x="10972800" y="1545336"/>
            <a:ext cx="1106424" cy="384048"/>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18520" y="1618488"/>
            <a:ext cx="1051560" cy="256032"/>
          </a:xfrm>
          <a:prstGeom prst="rect">
            <a:avLst/>
          </a:prstGeom>
          <a:noFill/>
        </p:spPr>
        <p:txBody>
          <a:bodyPr wrap="square">
            <a:spAutoFit/>
          </a:bodyPr>
          <a:lstStyle/>
          <a:p>
            <a:pPr algn="ctr">
              <a:spcBef>
                <a:spcPts val="0"/>
              </a:spcBef>
            </a:pPr>
            <a:r>
              <a:rPr sz="1200" b="1" i="0">
                <a:solidFill>
                  <a:srgbClr val="C1603A"/>
                </a:solidFill>
                <a:latin typeface="Calibri"/>
              </a:rPr>
              <a:t>4.48</a:t>
            </a:r>
          </a:p>
        </p:txBody>
      </p:sp>
      <p:sp>
        <p:nvSpPr>
          <p:cNvPr id="31" name="Rectangle 30"/>
          <p:cNvSpPr/>
          <p:nvPr/>
        </p:nvSpPr>
        <p:spPr>
          <a:xfrm>
            <a:off x="4160520" y="1947672"/>
            <a:ext cx="229514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06240" y="2020824"/>
            <a:ext cx="2240279" cy="256032"/>
          </a:xfrm>
          <a:prstGeom prst="rect">
            <a:avLst/>
          </a:prstGeom>
          <a:noFill/>
        </p:spPr>
        <p:txBody>
          <a:bodyPr wrap="square">
            <a:spAutoFit/>
          </a:bodyPr>
          <a:lstStyle/>
          <a:p>
            <a:pPr algn="l">
              <a:spcBef>
                <a:spcPts val="0"/>
              </a:spcBef>
            </a:pPr>
            <a:r>
              <a:rPr sz="1200" b="0" i="0">
                <a:solidFill>
                  <a:srgbClr val="3D2B1F"/>
                </a:solidFill>
                <a:latin typeface="Calibri"/>
              </a:rPr>
              <a:t>No Critic</a:t>
            </a:r>
          </a:p>
        </p:txBody>
      </p:sp>
      <p:sp>
        <p:nvSpPr>
          <p:cNvPr id="33" name="Rectangle 32"/>
          <p:cNvSpPr/>
          <p:nvPr/>
        </p:nvSpPr>
        <p:spPr>
          <a:xfrm>
            <a:off x="6492240" y="1947672"/>
            <a:ext cx="110642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37959" y="2020824"/>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4.73</a:t>
            </a:r>
          </a:p>
        </p:txBody>
      </p:sp>
      <p:sp>
        <p:nvSpPr>
          <p:cNvPr id="35" name="Rectangle 34"/>
          <p:cNvSpPr/>
          <p:nvPr/>
        </p:nvSpPr>
        <p:spPr>
          <a:xfrm>
            <a:off x="7635240" y="1947672"/>
            <a:ext cx="110642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0" y="2020824"/>
            <a:ext cx="1051560" cy="256032"/>
          </a:xfrm>
          <a:prstGeom prst="rect">
            <a:avLst/>
          </a:prstGeom>
          <a:noFill/>
        </p:spPr>
        <p:txBody>
          <a:bodyPr wrap="square">
            <a:spAutoFit/>
          </a:bodyPr>
          <a:lstStyle/>
          <a:p>
            <a:pPr algn="ctr">
              <a:spcBef>
                <a:spcPts val="0"/>
              </a:spcBef>
            </a:pPr>
            <a:r>
              <a:rPr sz="1200" b="0" i="0">
                <a:solidFill>
                  <a:srgbClr val="3D2B1F"/>
                </a:solidFill>
                <a:latin typeface="Calibri"/>
              </a:rPr>
              <a:t>3.80</a:t>
            </a:r>
          </a:p>
        </p:txBody>
      </p:sp>
      <p:sp>
        <p:nvSpPr>
          <p:cNvPr id="37" name="Rectangle 36"/>
          <p:cNvSpPr/>
          <p:nvPr/>
        </p:nvSpPr>
        <p:spPr>
          <a:xfrm>
            <a:off x="8778240" y="1947672"/>
            <a:ext cx="96926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3960" y="2020824"/>
            <a:ext cx="914400" cy="256032"/>
          </a:xfrm>
          <a:prstGeom prst="rect">
            <a:avLst/>
          </a:prstGeom>
          <a:noFill/>
        </p:spPr>
        <p:txBody>
          <a:bodyPr wrap="square">
            <a:spAutoFit/>
          </a:bodyPr>
          <a:lstStyle/>
          <a:p>
            <a:pPr algn="ctr">
              <a:spcBef>
                <a:spcPts val="0"/>
              </a:spcBef>
            </a:pPr>
            <a:r>
              <a:rPr sz="1200" b="0" i="0">
                <a:solidFill>
                  <a:srgbClr val="3D2B1F"/>
                </a:solidFill>
                <a:latin typeface="Calibri"/>
              </a:rPr>
              <a:t>5.00</a:t>
            </a:r>
          </a:p>
        </p:txBody>
      </p:sp>
      <p:sp>
        <p:nvSpPr>
          <p:cNvPr id="39" name="Rectangle 38"/>
          <p:cNvSpPr/>
          <p:nvPr/>
        </p:nvSpPr>
        <p:spPr>
          <a:xfrm>
            <a:off x="9784080" y="1947672"/>
            <a:ext cx="115214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29800" y="2020824"/>
            <a:ext cx="1097280" cy="256032"/>
          </a:xfrm>
          <a:prstGeom prst="rect">
            <a:avLst/>
          </a:prstGeom>
          <a:noFill/>
        </p:spPr>
        <p:txBody>
          <a:bodyPr wrap="square">
            <a:spAutoFit/>
          </a:bodyPr>
          <a:lstStyle/>
          <a:p>
            <a:pPr algn="ctr">
              <a:spcBef>
                <a:spcPts val="0"/>
              </a:spcBef>
            </a:pPr>
            <a:r>
              <a:rPr sz="1200" b="0" i="0">
                <a:solidFill>
                  <a:srgbClr val="3D2B1F"/>
                </a:solidFill>
                <a:latin typeface="Calibri"/>
              </a:rPr>
              <a:t>4.73</a:t>
            </a:r>
          </a:p>
        </p:txBody>
      </p:sp>
      <p:sp>
        <p:nvSpPr>
          <p:cNvPr id="41" name="Rectangle 40"/>
          <p:cNvSpPr/>
          <p:nvPr/>
        </p:nvSpPr>
        <p:spPr>
          <a:xfrm>
            <a:off x="10972800" y="1947672"/>
            <a:ext cx="110642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018520" y="2020824"/>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4.57</a:t>
            </a:r>
          </a:p>
        </p:txBody>
      </p:sp>
      <p:sp>
        <p:nvSpPr>
          <p:cNvPr id="43" name="Rectangle 42"/>
          <p:cNvSpPr/>
          <p:nvPr/>
        </p:nvSpPr>
        <p:spPr>
          <a:xfrm>
            <a:off x="4160520" y="2350008"/>
            <a:ext cx="229514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06240" y="2423160"/>
            <a:ext cx="2240279" cy="256032"/>
          </a:xfrm>
          <a:prstGeom prst="rect">
            <a:avLst/>
          </a:prstGeom>
          <a:noFill/>
        </p:spPr>
        <p:txBody>
          <a:bodyPr wrap="square">
            <a:spAutoFit/>
          </a:bodyPr>
          <a:lstStyle/>
          <a:p>
            <a:pPr algn="l">
              <a:spcBef>
                <a:spcPts val="0"/>
              </a:spcBef>
            </a:pPr>
            <a:r>
              <a:rPr sz="1200" b="0" i="0">
                <a:solidFill>
                  <a:srgbClr val="3D2B1F"/>
                </a:solidFill>
                <a:latin typeface="Calibri"/>
              </a:rPr>
              <a:t>No Retrieval</a:t>
            </a:r>
          </a:p>
        </p:txBody>
      </p:sp>
      <p:sp>
        <p:nvSpPr>
          <p:cNvPr id="45" name="Rectangle 44"/>
          <p:cNvSpPr/>
          <p:nvPr/>
        </p:nvSpPr>
        <p:spPr>
          <a:xfrm>
            <a:off x="6492240" y="2350008"/>
            <a:ext cx="110642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37959" y="2423160"/>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4.93</a:t>
            </a:r>
          </a:p>
        </p:txBody>
      </p:sp>
      <p:sp>
        <p:nvSpPr>
          <p:cNvPr id="47" name="Rectangle 46"/>
          <p:cNvSpPr/>
          <p:nvPr/>
        </p:nvSpPr>
        <p:spPr>
          <a:xfrm>
            <a:off x="7635240" y="2350008"/>
            <a:ext cx="110642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80960" y="2423160"/>
            <a:ext cx="1051560" cy="256032"/>
          </a:xfrm>
          <a:prstGeom prst="rect">
            <a:avLst/>
          </a:prstGeom>
          <a:noFill/>
        </p:spPr>
        <p:txBody>
          <a:bodyPr wrap="square">
            <a:spAutoFit/>
          </a:bodyPr>
          <a:lstStyle/>
          <a:p>
            <a:pPr algn="ctr">
              <a:spcBef>
                <a:spcPts val="0"/>
              </a:spcBef>
            </a:pPr>
            <a:r>
              <a:rPr sz="1200" b="0" i="0">
                <a:solidFill>
                  <a:srgbClr val="3D2B1F"/>
                </a:solidFill>
                <a:latin typeface="Calibri"/>
              </a:rPr>
              <a:t>3.93</a:t>
            </a:r>
          </a:p>
        </p:txBody>
      </p:sp>
      <p:sp>
        <p:nvSpPr>
          <p:cNvPr id="49" name="Rectangle 48"/>
          <p:cNvSpPr/>
          <p:nvPr/>
        </p:nvSpPr>
        <p:spPr>
          <a:xfrm>
            <a:off x="8778240" y="2350008"/>
            <a:ext cx="96926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23960" y="2423160"/>
            <a:ext cx="914400" cy="256032"/>
          </a:xfrm>
          <a:prstGeom prst="rect">
            <a:avLst/>
          </a:prstGeom>
          <a:noFill/>
        </p:spPr>
        <p:txBody>
          <a:bodyPr wrap="square">
            <a:spAutoFit/>
          </a:bodyPr>
          <a:lstStyle/>
          <a:p>
            <a:pPr algn="ctr">
              <a:spcBef>
                <a:spcPts val="0"/>
              </a:spcBef>
            </a:pPr>
            <a:r>
              <a:rPr sz="1200" b="0" i="0">
                <a:solidFill>
                  <a:srgbClr val="3D2B1F"/>
                </a:solidFill>
                <a:latin typeface="Calibri"/>
              </a:rPr>
              <a:t>5.00</a:t>
            </a:r>
          </a:p>
        </p:txBody>
      </p:sp>
      <p:sp>
        <p:nvSpPr>
          <p:cNvPr id="51" name="Rectangle 50"/>
          <p:cNvSpPr/>
          <p:nvPr/>
        </p:nvSpPr>
        <p:spPr>
          <a:xfrm>
            <a:off x="9784080" y="2350008"/>
            <a:ext cx="115214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29800" y="2423160"/>
            <a:ext cx="1097280" cy="256032"/>
          </a:xfrm>
          <a:prstGeom prst="rect">
            <a:avLst/>
          </a:prstGeom>
          <a:noFill/>
        </p:spPr>
        <p:txBody>
          <a:bodyPr wrap="square">
            <a:spAutoFit/>
          </a:bodyPr>
          <a:lstStyle/>
          <a:p>
            <a:pPr algn="ctr">
              <a:spcBef>
                <a:spcPts val="0"/>
              </a:spcBef>
            </a:pPr>
            <a:r>
              <a:rPr sz="1200" b="0" i="0">
                <a:solidFill>
                  <a:srgbClr val="3D2B1F"/>
                </a:solidFill>
                <a:latin typeface="Calibri"/>
              </a:rPr>
              <a:t>4.93</a:t>
            </a:r>
          </a:p>
        </p:txBody>
      </p:sp>
      <p:sp>
        <p:nvSpPr>
          <p:cNvPr id="53" name="Rectangle 52"/>
          <p:cNvSpPr/>
          <p:nvPr/>
        </p:nvSpPr>
        <p:spPr>
          <a:xfrm>
            <a:off x="10972800" y="2350008"/>
            <a:ext cx="110642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018520" y="2423160"/>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4.70</a:t>
            </a:r>
          </a:p>
        </p:txBody>
      </p:sp>
      <p:sp>
        <p:nvSpPr>
          <p:cNvPr id="55" name="Rectangle 54"/>
          <p:cNvSpPr/>
          <p:nvPr/>
        </p:nvSpPr>
        <p:spPr>
          <a:xfrm>
            <a:off x="4160520" y="2752344"/>
            <a:ext cx="229514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206240" y="2825496"/>
            <a:ext cx="2240279" cy="256032"/>
          </a:xfrm>
          <a:prstGeom prst="rect">
            <a:avLst/>
          </a:prstGeom>
          <a:noFill/>
        </p:spPr>
        <p:txBody>
          <a:bodyPr wrap="square">
            <a:spAutoFit/>
          </a:bodyPr>
          <a:lstStyle/>
          <a:p>
            <a:pPr algn="l">
              <a:spcBef>
                <a:spcPts val="0"/>
              </a:spcBef>
            </a:pPr>
            <a:r>
              <a:rPr sz="1200" b="0" i="0">
                <a:solidFill>
                  <a:srgbClr val="3D2B1F"/>
                </a:solidFill>
                <a:latin typeface="Calibri"/>
              </a:rPr>
              <a:t>No Reviser</a:t>
            </a:r>
          </a:p>
        </p:txBody>
      </p:sp>
      <p:sp>
        <p:nvSpPr>
          <p:cNvPr id="57" name="Rectangle 56"/>
          <p:cNvSpPr/>
          <p:nvPr/>
        </p:nvSpPr>
        <p:spPr>
          <a:xfrm>
            <a:off x="6492240" y="2752344"/>
            <a:ext cx="110642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37959" y="2825496"/>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4.80</a:t>
            </a:r>
          </a:p>
        </p:txBody>
      </p:sp>
      <p:sp>
        <p:nvSpPr>
          <p:cNvPr id="59" name="Rectangle 58"/>
          <p:cNvSpPr/>
          <p:nvPr/>
        </p:nvSpPr>
        <p:spPr>
          <a:xfrm>
            <a:off x="7635240" y="2752344"/>
            <a:ext cx="110642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80960" y="2825496"/>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4.00</a:t>
            </a:r>
          </a:p>
        </p:txBody>
      </p:sp>
      <p:sp>
        <p:nvSpPr>
          <p:cNvPr id="61" name="Rectangle 60"/>
          <p:cNvSpPr/>
          <p:nvPr/>
        </p:nvSpPr>
        <p:spPr>
          <a:xfrm>
            <a:off x="8778240" y="2752344"/>
            <a:ext cx="96926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23960" y="2825496"/>
            <a:ext cx="914400" cy="256032"/>
          </a:xfrm>
          <a:prstGeom prst="rect">
            <a:avLst/>
          </a:prstGeom>
          <a:noFill/>
        </p:spPr>
        <p:txBody>
          <a:bodyPr wrap="square">
            <a:spAutoFit/>
          </a:bodyPr>
          <a:lstStyle/>
          <a:p>
            <a:pPr algn="ctr">
              <a:spcBef>
                <a:spcPts val="0"/>
              </a:spcBef>
            </a:pPr>
            <a:r>
              <a:rPr sz="1200" b="0" i="0">
                <a:solidFill>
                  <a:srgbClr val="3D2B1F"/>
                </a:solidFill>
                <a:latin typeface="Calibri"/>
              </a:rPr>
              <a:t>5.00</a:t>
            </a:r>
          </a:p>
        </p:txBody>
      </p:sp>
      <p:sp>
        <p:nvSpPr>
          <p:cNvPr id="63" name="Rectangle 62"/>
          <p:cNvSpPr/>
          <p:nvPr/>
        </p:nvSpPr>
        <p:spPr>
          <a:xfrm>
            <a:off x="9784080" y="2752344"/>
            <a:ext cx="115214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29800" y="2825496"/>
            <a:ext cx="1097280" cy="256032"/>
          </a:xfrm>
          <a:prstGeom prst="rect">
            <a:avLst/>
          </a:prstGeom>
          <a:noFill/>
        </p:spPr>
        <p:txBody>
          <a:bodyPr wrap="square">
            <a:spAutoFit/>
          </a:bodyPr>
          <a:lstStyle/>
          <a:p>
            <a:pPr algn="ctr">
              <a:spcBef>
                <a:spcPts val="0"/>
              </a:spcBef>
            </a:pPr>
            <a:r>
              <a:rPr sz="1200" b="0" i="0">
                <a:solidFill>
                  <a:srgbClr val="3D2B1F"/>
                </a:solidFill>
                <a:latin typeface="Calibri"/>
              </a:rPr>
              <a:t>4.80</a:t>
            </a:r>
          </a:p>
        </p:txBody>
      </p:sp>
      <p:sp>
        <p:nvSpPr>
          <p:cNvPr id="65" name="Rectangle 64"/>
          <p:cNvSpPr/>
          <p:nvPr/>
        </p:nvSpPr>
        <p:spPr>
          <a:xfrm>
            <a:off x="10972800" y="2752344"/>
            <a:ext cx="110642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1018520" y="2825496"/>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4.65</a:t>
            </a:r>
          </a:p>
        </p:txBody>
      </p:sp>
      <p:sp>
        <p:nvSpPr>
          <p:cNvPr id="67" name="Rectangle 66"/>
          <p:cNvSpPr/>
          <p:nvPr/>
        </p:nvSpPr>
        <p:spPr>
          <a:xfrm>
            <a:off x="4160520" y="3154680"/>
            <a:ext cx="229514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206240" y="3227832"/>
            <a:ext cx="2240279" cy="256032"/>
          </a:xfrm>
          <a:prstGeom prst="rect">
            <a:avLst/>
          </a:prstGeom>
          <a:noFill/>
        </p:spPr>
        <p:txBody>
          <a:bodyPr wrap="square">
            <a:spAutoFit/>
          </a:bodyPr>
          <a:lstStyle/>
          <a:p>
            <a:pPr algn="l">
              <a:spcBef>
                <a:spcPts val="0"/>
              </a:spcBef>
            </a:pPr>
            <a:r>
              <a:rPr sz="1200" b="0" i="0">
                <a:solidFill>
                  <a:srgbClr val="3D2B1F"/>
                </a:solidFill>
                <a:latin typeface="Calibri"/>
              </a:rPr>
              <a:t>No Safety</a:t>
            </a:r>
          </a:p>
        </p:txBody>
      </p:sp>
      <p:sp>
        <p:nvSpPr>
          <p:cNvPr id="69" name="Rectangle 68"/>
          <p:cNvSpPr/>
          <p:nvPr/>
        </p:nvSpPr>
        <p:spPr>
          <a:xfrm>
            <a:off x="6492240" y="3154680"/>
            <a:ext cx="110642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537959" y="3227832"/>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4.73</a:t>
            </a:r>
          </a:p>
        </p:txBody>
      </p:sp>
      <p:sp>
        <p:nvSpPr>
          <p:cNvPr id="71" name="Rectangle 70"/>
          <p:cNvSpPr/>
          <p:nvPr/>
        </p:nvSpPr>
        <p:spPr>
          <a:xfrm>
            <a:off x="7635240" y="3154680"/>
            <a:ext cx="110642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680960" y="3227832"/>
            <a:ext cx="1051560" cy="256032"/>
          </a:xfrm>
          <a:prstGeom prst="rect">
            <a:avLst/>
          </a:prstGeom>
          <a:noFill/>
        </p:spPr>
        <p:txBody>
          <a:bodyPr wrap="square">
            <a:spAutoFit/>
          </a:bodyPr>
          <a:lstStyle/>
          <a:p>
            <a:pPr algn="ctr">
              <a:spcBef>
                <a:spcPts val="0"/>
              </a:spcBef>
            </a:pPr>
            <a:r>
              <a:rPr sz="1200" b="0" i="0">
                <a:solidFill>
                  <a:srgbClr val="3D2B1F"/>
                </a:solidFill>
                <a:latin typeface="Calibri"/>
              </a:rPr>
              <a:t>3.87</a:t>
            </a:r>
          </a:p>
        </p:txBody>
      </p:sp>
      <p:sp>
        <p:nvSpPr>
          <p:cNvPr id="73" name="Rectangle 72"/>
          <p:cNvSpPr/>
          <p:nvPr/>
        </p:nvSpPr>
        <p:spPr>
          <a:xfrm>
            <a:off x="8778240" y="3154680"/>
            <a:ext cx="96926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823960" y="3227832"/>
            <a:ext cx="914400" cy="256032"/>
          </a:xfrm>
          <a:prstGeom prst="rect">
            <a:avLst/>
          </a:prstGeom>
          <a:noFill/>
        </p:spPr>
        <p:txBody>
          <a:bodyPr wrap="square">
            <a:spAutoFit/>
          </a:bodyPr>
          <a:lstStyle/>
          <a:p>
            <a:pPr algn="ctr">
              <a:spcBef>
                <a:spcPts val="0"/>
              </a:spcBef>
            </a:pPr>
            <a:r>
              <a:rPr sz="1200" b="0" i="0">
                <a:solidFill>
                  <a:srgbClr val="3D2B1F"/>
                </a:solidFill>
                <a:latin typeface="Calibri"/>
              </a:rPr>
              <a:t>5.00</a:t>
            </a:r>
          </a:p>
        </p:txBody>
      </p:sp>
      <p:sp>
        <p:nvSpPr>
          <p:cNvPr id="75" name="Rectangle 74"/>
          <p:cNvSpPr/>
          <p:nvPr/>
        </p:nvSpPr>
        <p:spPr>
          <a:xfrm>
            <a:off x="9784080" y="3154680"/>
            <a:ext cx="115214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829800" y="3227832"/>
            <a:ext cx="1097280" cy="256032"/>
          </a:xfrm>
          <a:prstGeom prst="rect">
            <a:avLst/>
          </a:prstGeom>
          <a:noFill/>
        </p:spPr>
        <p:txBody>
          <a:bodyPr wrap="square">
            <a:spAutoFit/>
          </a:bodyPr>
          <a:lstStyle/>
          <a:p>
            <a:pPr algn="ctr">
              <a:spcBef>
                <a:spcPts val="0"/>
              </a:spcBef>
            </a:pPr>
            <a:r>
              <a:rPr sz="1200" b="0" i="0">
                <a:solidFill>
                  <a:srgbClr val="3D2B1F"/>
                </a:solidFill>
                <a:latin typeface="Calibri"/>
              </a:rPr>
              <a:t>4.73</a:t>
            </a:r>
          </a:p>
        </p:txBody>
      </p:sp>
      <p:sp>
        <p:nvSpPr>
          <p:cNvPr id="77" name="Rectangle 76"/>
          <p:cNvSpPr/>
          <p:nvPr/>
        </p:nvSpPr>
        <p:spPr>
          <a:xfrm>
            <a:off x="10972800" y="3154680"/>
            <a:ext cx="1106424" cy="384048"/>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1018520" y="3227832"/>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4.58</a:t>
            </a:r>
          </a:p>
        </p:txBody>
      </p:sp>
      <p:sp>
        <p:nvSpPr>
          <p:cNvPr id="79" name="Rectangle 78"/>
          <p:cNvSpPr/>
          <p:nvPr/>
        </p:nvSpPr>
        <p:spPr>
          <a:xfrm>
            <a:off x="4160520" y="3557016"/>
            <a:ext cx="229514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206240" y="3630168"/>
            <a:ext cx="2240279" cy="256032"/>
          </a:xfrm>
          <a:prstGeom prst="rect">
            <a:avLst/>
          </a:prstGeom>
          <a:noFill/>
        </p:spPr>
        <p:txBody>
          <a:bodyPr wrap="square">
            <a:spAutoFit/>
          </a:bodyPr>
          <a:lstStyle/>
          <a:p>
            <a:pPr algn="l">
              <a:spcBef>
                <a:spcPts val="0"/>
              </a:spcBef>
            </a:pPr>
            <a:r>
              <a:rPr sz="1200" b="0" i="0">
                <a:solidFill>
                  <a:srgbClr val="3D2B1F"/>
                </a:solidFill>
                <a:latin typeface="Calibri"/>
              </a:rPr>
              <a:t>Baseline</a:t>
            </a:r>
          </a:p>
        </p:txBody>
      </p:sp>
      <p:sp>
        <p:nvSpPr>
          <p:cNvPr id="81" name="Rectangle 80"/>
          <p:cNvSpPr/>
          <p:nvPr/>
        </p:nvSpPr>
        <p:spPr>
          <a:xfrm>
            <a:off x="6492240" y="3557016"/>
            <a:ext cx="110642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537959" y="3630168"/>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4.40</a:t>
            </a:r>
          </a:p>
        </p:txBody>
      </p:sp>
      <p:sp>
        <p:nvSpPr>
          <p:cNvPr id="83" name="Rectangle 82"/>
          <p:cNvSpPr/>
          <p:nvPr/>
        </p:nvSpPr>
        <p:spPr>
          <a:xfrm>
            <a:off x="7635240" y="3557016"/>
            <a:ext cx="110642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680960" y="3630168"/>
            <a:ext cx="1051560" cy="256032"/>
          </a:xfrm>
          <a:prstGeom prst="rect">
            <a:avLst/>
          </a:prstGeom>
          <a:noFill/>
        </p:spPr>
        <p:txBody>
          <a:bodyPr wrap="square">
            <a:spAutoFit/>
          </a:bodyPr>
          <a:lstStyle/>
          <a:p>
            <a:pPr algn="ctr">
              <a:spcBef>
                <a:spcPts val="0"/>
              </a:spcBef>
            </a:pPr>
            <a:r>
              <a:rPr sz="1200" b="0" i="0">
                <a:solidFill>
                  <a:srgbClr val="3D2B1F"/>
                </a:solidFill>
                <a:latin typeface="Calibri"/>
              </a:rPr>
              <a:t>3.87</a:t>
            </a:r>
          </a:p>
        </p:txBody>
      </p:sp>
      <p:sp>
        <p:nvSpPr>
          <p:cNvPr id="85" name="Rectangle 84"/>
          <p:cNvSpPr/>
          <p:nvPr/>
        </p:nvSpPr>
        <p:spPr>
          <a:xfrm>
            <a:off x="8778240" y="3557016"/>
            <a:ext cx="96926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823960" y="3630168"/>
            <a:ext cx="914400" cy="256032"/>
          </a:xfrm>
          <a:prstGeom prst="rect">
            <a:avLst/>
          </a:prstGeom>
          <a:noFill/>
        </p:spPr>
        <p:txBody>
          <a:bodyPr wrap="square">
            <a:spAutoFit/>
          </a:bodyPr>
          <a:lstStyle/>
          <a:p>
            <a:pPr algn="ctr">
              <a:spcBef>
                <a:spcPts val="0"/>
              </a:spcBef>
            </a:pPr>
            <a:r>
              <a:rPr sz="1200" b="0" i="0">
                <a:solidFill>
                  <a:srgbClr val="3D2B1F"/>
                </a:solidFill>
                <a:latin typeface="Calibri"/>
              </a:rPr>
              <a:t>5.00</a:t>
            </a:r>
          </a:p>
        </p:txBody>
      </p:sp>
      <p:sp>
        <p:nvSpPr>
          <p:cNvPr id="87" name="Rectangle 86"/>
          <p:cNvSpPr/>
          <p:nvPr/>
        </p:nvSpPr>
        <p:spPr>
          <a:xfrm>
            <a:off x="9784080" y="3557016"/>
            <a:ext cx="115214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829800" y="3630168"/>
            <a:ext cx="1097280" cy="256032"/>
          </a:xfrm>
          <a:prstGeom prst="rect">
            <a:avLst/>
          </a:prstGeom>
          <a:noFill/>
        </p:spPr>
        <p:txBody>
          <a:bodyPr wrap="square">
            <a:spAutoFit/>
          </a:bodyPr>
          <a:lstStyle/>
          <a:p>
            <a:pPr algn="ctr">
              <a:spcBef>
                <a:spcPts val="0"/>
              </a:spcBef>
            </a:pPr>
            <a:r>
              <a:rPr sz="1200" b="0" i="0">
                <a:solidFill>
                  <a:srgbClr val="3D2B1F"/>
                </a:solidFill>
                <a:latin typeface="Calibri"/>
              </a:rPr>
              <a:t>4.60</a:t>
            </a:r>
          </a:p>
        </p:txBody>
      </p:sp>
      <p:sp>
        <p:nvSpPr>
          <p:cNvPr id="89" name="Rectangle 88"/>
          <p:cNvSpPr/>
          <p:nvPr/>
        </p:nvSpPr>
        <p:spPr>
          <a:xfrm>
            <a:off x="10972800" y="3557016"/>
            <a:ext cx="1106424" cy="384048"/>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018520" y="3630168"/>
            <a:ext cx="1051560" cy="256032"/>
          </a:xfrm>
          <a:prstGeom prst="rect">
            <a:avLst/>
          </a:prstGeom>
          <a:noFill/>
        </p:spPr>
        <p:txBody>
          <a:bodyPr wrap="square">
            <a:spAutoFit/>
          </a:bodyPr>
          <a:lstStyle/>
          <a:p>
            <a:pPr algn="ctr">
              <a:spcBef>
                <a:spcPts val="0"/>
              </a:spcBef>
            </a:pPr>
            <a:r>
              <a:rPr sz="1200" b="0" i="0">
                <a:solidFill>
                  <a:srgbClr val="3D2B1F"/>
                </a:solidFill>
                <a:latin typeface="Calibri"/>
              </a:rPr>
              <a:t>4.47</a:t>
            </a:r>
          </a:p>
        </p:txBody>
      </p:sp>
      <p:sp>
        <p:nvSpPr>
          <p:cNvPr id="91" name="TextBox 90"/>
          <p:cNvSpPr txBox="1"/>
          <p:nvPr/>
        </p:nvSpPr>
        <p:spPr>
          <a:xfrm>
            <a:off x="4160520" y="3657600"/>
            <a:ext cx="7589520" cy="502920"/>
          </a:xfrm>
          <a:prstGeom prst="rect">
            <a:avLst/>
          </a:prstGeom>
          <a:noFill/>
        </p:spPr>
        <p:txBody>
          <a:bodyPr wrap="square">
            <a:spAutoFit/>
          </a:bodyPr>
          <a:lstStyle/>
          <a:p>
            <a:pPr algn="l">
              <a:spcBef>
                <a:spcPts val="0"/>
              </a:spcBef>
            </a:pPr>
            <a:r>
              <a:rPr sz="1200" b="0" i="1">
                <a:solidFill>
                  <a:srgbClr val="8A6F5A"/>
                </a:solidFill>
                <a:latin typeface="Calibri"/>
              </a:rPr>
              <a:t>Note: ablation variants score higher on low-risk cases — simpler structure is smoother for routine conversation.</a:t>
            </a:r>
          </a:p>
        </p:txBody>
      </p:sp>
      <p:sp>
        <p:nvSpPr>
          <p:cNvPr id="92" name="Rounded Rectangle 91"/>
          <p:cNvSpPr/>
          <p:nvPr/>
        </p:nvSpPr>
        <p:spPr>
          <a:xfrm>
            <a:off x="502920" y="4343400"/>
            <a:ext cx="11247120" cy="96012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85800" y="4462272"/>
            <a:ext cx="10881360" cy="731520"/>
          </a:xfrm>
          <a:prstGeom prst="rect">
            <a:avLst/>
          </a:prstGeom>
          <a:noFill/>
        </p:spPr>
        <p:txBody>
          <a:bodyPr wrap="square">
            <a:spAutoFit/>
          </a:bodyPr>
          <a:lstStyle/>
          <a:p>
            <a:pPr algn="l">
              <a:spcBef>
                <a:spcPts val="0"/>
              </a:spcBef>
            </a:pPr>
            <a:r>
              <a:rPr sz="1500" b="1" i="0">
                <a:solidFill>
                  <a:srgbClr val="4A7257"/>
                </a:solidFill>
                <a:latin typeface="Calibri"/>
              </a:rPr>
              <a:t>→  Pipeline's real advantage appears on high-risk cases (next slide): 92% win rate and 100% safety recall.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247120" cy="685800"/>
          </a:xfrm>
          <a:prstGeom prst="rect">
            <a:avLst/>
          </a:prstGeom>
          <a:noFill/>
        </p:spPr>
        <p:txBody>
          <a:bodyPr wrap="square">
            <a:spAutoFit/>
          </a:bodyPr>
          <a:lstStyle/>
          <a:p>
            <a:pPr algn="l">
              <a:spcBef>
                <a:spcPts val="0"/>
              </a:spcBef>
            </a:pPr>
            <a:r>
              <a:rPr sz="3400" b="1" i="0">
                <a:solidFill>
                  <a:srgbClr val="3D2B1F"/>
                </a:solidFill>
                <a:latin typeface="Calibri"/>
              </a:rPr>
              <a:t>Results: Medium + High-Risk Cases  (n = 24)</a:t>
            </a:r>
          </a:p>
        </p:txBody>
      </p:sp>
      <p:sp>
        <p:nvSpPr>
          <p:cNvPr id="4" name="Rectangle 3"/>
          <p:cNvSpPr/>
          <p:nvPr/>
        </p:nvSpPr>
        <p:spPr>
          <a:xfrm>
            <a:off x="502920" y="987552"/>
            <a:ext cx="11247120" cy="36576"/>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143000"/>
            <a:ext cx="3611880" cy="192024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80160"/>
            <a:ext cx="3429000" cy="1645920"/>
          </a:xfrm>
          <a:prstGeom prst="rect">
            <a:avLst/>
          </a:prstGeom>
          <a:noFill/>
        </p:spPr>
        <p:txBody>
          <a:bodyPr wrap="square">
            <a:spAutoFit/>
          </a:bodyPr>
          <a:lstStyle/>
          <a:p>
            <a:pPr algn="ctr">
              <a:spcBef>
                <a:spcPts val="0"/>
              </a:spcBef>
            </a:pPr>
            <a:r>
              <a:rPr sz="5200" b="1" i="0">
                <a:solidFill>
                  <a:srgbClr val="C1603A"/>
                </a:solidFill>
                <a:latin typeface="Calibri"/>
              </a:rPr>
              <a:t>92%</a:t>
            </a:r>
          </a:p>
          <a:p>
            <a:pPr algn="ctr">
              <a:spcBef>
                <a:spcPts val="0"/>
              </a:spcBef>
            </a:pPr>
            <a:r>
              <a:rPr sz="1400" b="0" i="0">
                <a:solidFill>
                  <a:srgbClr val="3D2B1F"/>
                </a:solidFill>
                <a:latin typeface="Calibri"/>
              </a:rPr>
              <a:t>pairwise win rate
(22 / 24 cases)</a:t>
            </a:r>
          </a:p>
        </p:txBody>
      </p:sp>
      <p:sp>
        <p:nvSpPr>
          <p:cNvPr id="7" name="Rounded Rectangle 6"/>
          <p:cNvSpPr/>
          <p:nvPr/>
        </p:nvSpPr>
        <p:spPr>
          <a:xfrm>
            <a:off x="4398264" y="1143000"/>
            <a:ext cx="3611880" cy="192024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9703" y="1280160"/>
            <a:ext cx="3429000" cy="1645920"/>
          </a:xfrm>
          <a:prstGeom prst="rect">
            <a:avLst/>
          </a:prstGeom>
          <a:noFill/>
        </p:spPr>
        <p:txBody>
          <a:bodyPr wrap="square">
            <a:spAutoFit/>
          </a:bodyPr>
          <a:lstStyle/>
          <a:p>
            <a:pPr algn="ctr">
              <a:spcBef>
                <a:spcPts val="0"/>
              </a:spcBef>
            </a:pPr>
            <a:r>
              <a:rPr sz="5200" b="1" i="0">
                <a:solidFill>
                  <a:srgbClr val="4A7257"/>
                </a:solidFill>
                <a:latin typeface="Calibri"/>
              </a:rPr>
              <a:t>100%</a:t>
            </a:r>
          </a:p>
          <a:p>
            <a:pPr algn="ctr">
              <a:spcBef>
                <a:spcPts val="0"/>
              </a:spcBef>
            </a:pPr>
            <a:r>
              <a:rPr sz="1400" b="0" i="0">
                <a:solidFill>
                  <a:srgbClr val="3D2B1F"/>
                </a:solidFill>
                <a:latin typeface="Calibri"/>
              </a:rPr>
              <a:t>safety recall
(8 / 8 high-risk)</a:t>
            </a:r>
          </a:p>
        </p:txBody>
      </p:sp>
      <p:sp>
        <p:nvSpPr>
          <p:cNvPr id="9" name="Rounded Rectangle 8"/>
          <p:cNvSpPr/>
          <p:nvPr/>
        </p:nvSpPr>
        <p:spPr>
          <a:xfrm>
            <a:off x="8293608" y="1143000"/>
            <a:ext cx="3611880" cy="192024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5048" y="1280160"/>
            <a:ext cx="3429000" cy="1645920"/>
          </a:xfrm>
          <a:prstGeom prst="rect">
            <a:avLst/>
          </a:prstGeom>
          <a:noFill/>
        </p:spPr>
        <p:txBody>
          <a:bodyPr wrap="square">
            <a:spAutoFit/>
          </a:bodyPr>
          <a:lstStyle/>
          <a:p>
            <a:pPr algn="ctr">
              <a:spcBef>
                <a:spcPts val="0"/>
              </a:spcBef>
            </a:pPr>
            <a:r>
              <a:rPr sz="5200" b="1" i="0">
                <a:solidFill>
                  <a:srgbClr val="8B4535"/>
                </a:solidFill>
                <a:latin typeface="Calibri"/>
              </a:rPr>
              <a:t>+0.60</a:t>
            </a:r>
          </a:p>
          <a:p>
            <a:pPr algn="ctr">
              <a:spcBef>
                <a:spcPts val="0"/>
              </a:spcBef>
            </a:pPr>
            <a:r>
              <a:rPr sz="1400" b="0" i="0">
                <a:solidFill>
                  <a:srgbClr val="3D2B1F"/>
                </a:solidFill>
                <a:latin typeface="Calibri"/>
              </a:rPr>
              <a:t>quality gap
Pipeline vs Baseline</a:t>
            </a:r>
          </a:p>
        </p:txBody>
      </p:sp>
      <p:sp>
        <p:nvSpPr>
          <p:cNvPr id="11" name="Rectangle 10"/>
          <p:cNvSpPr/>
          <p:nvPr/>
        </p:nvSpPr>
        <p:spPr>
          <a:xfrm>
            <a:off x="2103120" y="3108960"/>
            <a:ext cx="3886200" cy="429768"/>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76272" y="3182112"/>
            <a:ext cx="3785615" cy="283463"/>
          </a:xfrm>
          <a:prstGeom prst="rect">
            <a:avLst/>
          </a:prstGeom>
          <a:noFill/>
        </p:spPr>
        <p:txBody>
          <a:bodyPr wrap="square">
            <a:spAutoFit/>
          </a:bodyPr>
          <a:lstStyle/>
          <a:p>
            <a:pPr algn="ctr">
              <a:spcBef>
                <a:spcPts val="0"/>
              </a:spcBef>
            </a:pPr>
            <a:r>
              <a:rPr sz="1300" b="1" i="0">
                <a:solidFill>
                  <a:srgbClr val="FFFFFF"/>
                </a:solidFill>
                <a:latin typeface="Calibri"/>
              </a:rPr>
              <a:t>System</a:t>
            </a:r>
          </a:p>
        </p:txBody>
      </p:sp>
      <p:sp>
        <p:nvSpPr>
          <p:cNvPr id="13" name="Rectangle 12"/>
          <p:cNvSpPr/>
          <p:nvPr/>
        </p:nvSpPr>
        <p:spPr>
          <a:xfrm>
            <a:off x="6035040" y="3108960"/>
            <a:ext cx="2514600" cy="429768"/>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08192" y="3182112"/>
            <a:ext cx="2414015" cy="283463"/>
          </a:xfrm>
          <a:prstGeom prst="rect">
            <a:avLst/>
          </a:prstGeom>
          <a:noFill/>
        </p:spPr>
        <p:txBody>
          <a:bodyPr wrap="square">
            <a:spAutoFit/>
          </a:bodyPr>
          <a:lstStyle/>
          <a:p>
            <a:pPr algn="ctr">
              <a:spcBef>
                <a:spcPts val="0"/>
              </a:spcBef>
            </a:pPr>
            <a:r>
              <a:rPr sz="1300" b="1" i="0">
                <a:solidFill>
                  <a:srgbClr val="FFFFFF"/>
                </a:solidFill>
                <a:latin typeface="Calibri"/>
              </a:rPr>
              <a:t>Overall Mean</a:t>
            </a:r>
          </a:p>
        </p:txBody>
      </p:sp>
      <p:sp>
        <p:nvSpPr>
          <p:cNvPr id="15" name="Rectangle 14"/>
          <p:cNvSpPr/>
          <p:nvPr/>
        </p:nvSpPr>
        <p:spPr>
          <a:xfrm>
            <a:off x="8595359" y="3108960"/>
            <a:ext cx="1783080" cy="429768"/>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8511" y="3182112"/>
            <a:ext cx="1682496" cy="283463"/>
          </a:xfrm>
          <a:prstGeom prst="rect">
            <a:avLst/>
          </a:prstGeom>
          <a:noFill/>
        </p:spPr>
        <p:txBody>
          <a:bodyPr wrap="square">
            <a:spAutoFit/>
          </a:bodyPr>
          <a:lstStyle/>
          <a:p>
            <a:pPr algn="ctr">
              <a:spcBef>
                <a:spcPts val="0"/>
              </a:spcBef>
            </a:pPr>
            <a:r>
              <a:rPr sz="1300" b="1" i="0">
                <a:solidFill>
                  <a:srgbClr val="FFFFFF"/>
                </a:solidFill>
                <a:latin typeface="Calibri"/>
              </a:rPr>
              <a:t>Stdev</a:t>
            </a:r>
          </a:p>
        </p:txBody>
      </p:sp>
      <p:sp>
        <p:nvSpPr>
          <p:cNvPr id="17" name="Rectangle 16"/>
          <p:cNvSpPr/>
          <p:nvPr/>
        </p:nvSpPr>
        <p:spPr>
          <a:xfrm>
            <a:off x="2103120" y="3538728"/>
            <a:ext cx="3886200" cy="411479"/>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76272" y="3611880"/>
            <a:ext cx="3785615" cy="283463"/>
          </a:xfrm>
          <a:prstGeom prst="rect">
            <a:avLst/>
          </a:prstGeom>
          <a:noFill/>
        </p:spPr>
        <p:txBody>
          <a:bodyPr wrap="square">
            <a:spAutoFit/>
          </a:bodyPr>
          <a:lstStyle/>
          <a:p>
            <a:pPr algn="l">
              <a:spcBef>
                <a:spcPts val="0"/>
              </a:spcBef>
            </a:pPr>
            <a:r>
              <a:rPr sz="1400" b="0" i="0">
                <a:solidFill>
                  <a:srgbClr val="3D2B1F"/>
                </a:solidFill>
                <a:latin typeface="Calibri"/>
              </a:rPr>
              <a:t>Full Pipeline</a:t>
            </a:r>
          </a:p>
        </p:txBody>
      </p:sp>
      <p:sp>
        <p:nvSpPr>
          <p:cNvPr id="19" name="Rectangle 18"/>
          <p:cNvSpPr/>
          <p:nvPr/>
        </p:nvSpPr>
        <p:spPr>
          <a:xfrm>
            <a:off x="6035040" y="3538728"/>
            <a:ext cx="2514600" cy="411479"/>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08192" y="3611880"/>
            <a:ext cx="2414015" cy="283463"/>
          </a:xfrm>
          <a:prstGeom prst="rect">
            <a:avLst/>
          </a:prstGeom>
          <a:noFill/>
        </p:spPr>
        <p:txBody>
          <a:bodyPr wrap="square">
            <a:spAutoFit/>
          </a:bodyPr>
          <a:lstStyle/>
          <a:p>
            <a:pPr algn="ctr">
              <a:spcBef>
                <a:spcPts val="0"/>
              </a:spcBef>
            </a:pPr>
            <a:r>
              <a:rPr sz="1400" b="1" i="0">
                <a:solidFill>
                  <a:srgbClr val="C1603A"/>
                </a:solidFill>
                <a:latin typeface="Calibri"/>
              </a:rPr>
              <a:t>4.698</a:t>
            </a:r>
          </a:p>
        </p:txBody>
      </p:sp>
      <p:sp>
        <p:nvSpPr>
          <p:cNvPr id="21" name="Rectangle 20"/>
          <p:cNvSpPr/>
          <p:nvPr/>
        </p:nvSpPr>
        <p:spPr>
          <a:xfrm>
            <a:off x="8595359" y="3538728"/>
            <a:ext cx="1783080" cy="411479"/>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68511" y="3611880"/>
            <a:ext cx="1682496" cy="283463"/>
          </a:xfrm>
          <a:prstGeom prst="rect">
            <a:avLst/>
          </a:prstGeom>
          <a:noFill/>
        </p:spPr>
        <p:txBody>
          <a:bodyPr wrap="square">
            <a:spAutoFit/>
          </a:bodyPr>
          <a:lstStyle/>
          <a:p>
            <a:pPr algn="ctr">
              <a:spcBef>
                <a:spcPts val="0"/>
              </a:spcBef>
            </a:pPr>
            <a:r>
              <a:rPr sz="1400" b="0" i="0">
                <a:solidFill>
                  <a:srgbClr val="3D2B1F"/>
                </a:solidFill>
                <a:latin typeface="Calibri"/>
              </a:rPr>
              <a:t>±0.330</a:t>
            </a:r>
          </a:p>
        </p:txBody>
      </p:sp>
      <p:sp>
        <p:nvSpPr>
          <p:cNvPr id="23" name="Rectangle 22"/>
          <p:cNvSpPr/>
          <p:nvPr/>
        </p:nvSpPr>
        <p:spPr>
          <a:xfrm>
            <a:off x="2103120" y="3968496"/>
            <a:ext cx="3886200" cy="411479"/>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76272" y="4041648"/>
            <a:ext cx="3785615" cy="283463"/>
          </a:xfrm>
          <a:prstGeom prst="rect">
            <a:avLst/>
          </a:prstGeom>
          <a:noFill/>
        </p:spPr>
        <p:txBody>
          <a:bodyPr wrap="square">
            <a:spAutoFit/>
          </a:bodyPr>
          <a:lstStyle/>
          <a:p>
            <a:pPr algn="l">
              <a:spcBef>
                <a:spcPts val="0"/>
              </a:spcBef>
            </a:pPr>
            <a:r>
              <a:rPr sz="1400" b="0" i="0">
                <a:solidFill>
                  <a:srgbClr val="3D2B1F"/>
                </a:solidFill>
                <a:latin typeface="Calibri"/>
              </a:rPr>
              <a:t>No Safety</a:t>
            </a:r>
          </a:p>
        </p:txBody>
      </p:sp>
      <p:sp>
        <p:nvSpPr>
          <p:cNvPr id="25" name="Rectangle 24"/>
          <p:cNvSpPr/>
          <p:nvPr/>
        </p:nvSpPr>
        <p:spPr>
          <a:xfrm>
            <a:off x="6035040" y="3968496"/>
            <a:ext cx="2514600" cy="411479"/>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08192" y="4041648"/>
            <a:ext cx="2414015" cy="283463"/>
          </a:xfrm>
          <a:prstGeom prst="rect">
            <a:avLst/>
          </a:prstGeom>
          <a:noFill/>
        </p:spPr>
        <p:txBody>
          <a:bodyPr wrap="square">
            <a:spAutoFit/>
          </a:bodyPr>
          <a:lstStyle/>
          <a:p>
            <a:pPr algn="ctr">
              <a:spcBef>
                <a:spcPts val="0"/>
              </a:spcBef>
            </a:pPr>
            <a:r>
              <a:rPr sz="1400" b="0" i="0">
                <a:solidFill>
                  <a:srgbClr val="3D2B1F"/>
                </a:solidFill>
                <a:latin typeface="Calibri"/>
              </a:rPr>
              <a:t>4.469</a:t>
            </a:r>
          </a:p>
        </p:txBody>
      </p:sp>
      <p:sp>
        <p:nvSpPr>
          <p:cNvPr id="27" name="Rectangle 26"/>
          <p:cNvSpPr/>
          <p:nvPr/>
        </p:nvSpPr>
        <p:spPr>
          <a:xfrm>
            <a:off x="8595359" y="3968496"/>
            <a:ext cx="1783080" cy="411479"/>
          </a:xfrm>
          <a:prstGeom prst="rect">
            <a:avLst/>
          </a:prstGeom>
          <a:solidFill>
            <a:srgbClr val="F7E8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68511" y="4041648"/>
            <a:ext cx="1682496" cy="283463"/>
          </a:xfrm>
          <a:prstGeom prst="rect">
            <a:avLst/>
          </a:prstGeom>
          <a:noFill/>
        </p:spPr>
        <p:txBody>
          <a:bodyPr wrap="square">
            <a:spAutoFit/>
          </a:bodyPr>
          <a:lstStyle/>
          <a:p>
            <a:pPr algn="ctr">
              <a:spcBef>
                <a:spcPts val="0"/>
              </a:spcBef>
            </a:pPr>
            <a:r>
              <a:rPr sz="1400" b="0" i="0">
                <a:solidFill>
                  <a:srgbClr val="3D2B1F"/>
                </a:solidFill>
                <a:latin typeface="Calibri"/>
              </a:rPr>
              <a:t>±0.356</a:t>
            </a:r>
          </a:p>
        </p:txBody>
      </p:sp>
      <p:sp>
        <p:nvSpPr>
          <p:cNvPr id="29" name="Rectangle 28"/>
          <p:cNvSpPr/>
          <p:nvPr/>
        </p:nvSpPr>
        <p:spPr>
          <a:xfrm>
            <a:off x="2103120" y="4398264"/>
            <a:ext cx="3886200" cy="411479"/>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76272" y="4471416"/>
            <a:ext cx="3785615" cy="283463"/>
          </a:xfrm>
          <a:prstGeom prst="rect">
            <a:avLst/>
          </a:prstGeom>
          <a:noFill/>
        </p:spPr>
        <p:txBody>
          <a:bodyPr wrap="square">
            <a:spAutoFit/>
          </a:bodyPr>
          <a:lstStyle/>
          <a:p>
            <a:pPr algn="l">
              <a:spcBef>
                <a:spcPts val="0"/>
              </a:spcBef>
            </a:pPr>
            <a:r>
              <a:rPr sz="1400" b="0" i="0">
                <a:solidFill>
                  <a:srgbClr val="3D2B1F"/>
                </a:solidFill>
                <a:latin typeface="Calibri"/>
              </a:rPr>
              <a:t>Baseline</a:t>
            </a:r>
          </a:p>
        </p:txBody>
      </p:sp>
      <p:sp>
        <p:nvSpPr>
          <p:cNvPr id="31" name="Rectangle 30"/>
          <p:cNvSpPr/>
          <p:nvPr/>
        </p:nvSpPr>
        <p:spPr>
          <a:xfrm>
            <a:off x="6035040" y="4398264"/>
            <a:ext cx="2514600" cy="411479"/>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08192" y="4471416"/>
            <a:ext cx="2414015" cy="283463"/>
          </a:xfrm>
          <a:prstGeom prst="rect">
            <a:avLst/>
          </a:prstGeom>
          <a:noFill/>
        </p:spPr>
        <p:txBody>
          <a:bodyPr wrap="square">
            <a:spAutoFit/>
          </a:bodyPr>
          <a:lstStyle/>
          <a:p>
            <a:pPr algn="ctr">
              <a:spcBef>
                <a:spcPts val="0"/>
              </a:spcBef>
            </a:pPr>
            <a:r>
              <a:rPr sz="1400" b="0" i="0">
                <a:solidFill>
                  <a:srgbClr val="3D2B1F"/>
                </a:solidFill>
                <a:latin typeface="Calibri"/>
              </a:rPr>
              <a:t>4.094</a:t>
            </a:r>
          </a:p>
        </p:txBody>
      </p:sp>
      <p:sp>
        <p:nvSpPr>
          <p:cNvPr id="33" name="Rectangle 32"/>
          <p:cNvSpPr/>
          <p:nvPr/>
        </p:nvSpPr>
        <p:spPr>
          <a:xfrm>
            <a:off x="8595359" y="4398264"/>
            <a:ext cx="1783080" cy="411479"/>
          </a:xfrm>
          <a:prstGeom prst="rect">
            <a:avLst/>
          </a:prstGeom>
          <a:solidFill>
            <a:srgbClr val="FF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68511" y="4471416"/>
            <a:ext cx="1682496" cy="283463"/>
          </a:xfrm>
          <a:prstGeom prst="rect">
            <a:avLst/>
          </a:prstGeom>
          <a:noFill/>
        </p:spPr>
        <p:txBody>
          <a:bodyPr wrap="square">
            <a:spAutoFit/>
          </a:bodyPr>
          <a:lstStyle/>
          <a:p>
            <a:pPr algn="ctr">
              <a:spcBef>
                <a:spcPts val="0"/>
              </a:spcBef>
            </a:pPr>
            <a:r>
              <a:rPr sz="1400" b="0" i="0">
                <a:solidFill>
                  <a:srgbClr val="3D2B1F"/>
                </a:solidFill>
                <a:latin typeface="Calibri"/>
              </a:rPr>
              <a:t>±0.598</a:t>
            </a:r>
          </a:p>
        </p:txBody>
      </p:sp>
      <p:sp>
        <p:nvSpPr>
          <p:cNvPr id="35" name="Rounded Rectangle 34"/>
          <p:cNvSpPr/>
          <p:nvPr/>
        </p:nvSpPr>
        <p:spPr>
          <a:xfrm>
            <a:off x="502920" y="4983480"/>
            <a:ext cx="11247120" cy="164592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102352"/>
            <a:ext cx="10881360" cy="1417320"/>
          </a:xfrm>
          <a:prstGeom prst="rect">
            <a:avLst/>
          </a:prstGeom>
          <a:noFill/>
        </p:spPr>
        <p:txBody>
          <a:bodyPr wrap="square">
            <a:spAutoFit/>
          </a:bodyPr>
          <a:lstStyle/>
          <a:p>
            <a:pPr algn="l">
              <a:spcBef>
                <a:spcPts val="0"/>
              </a:spcBef>
            </a:pPr>
            <a:r>
              <a:rPr sz="1500" b="1" i="0">
                <a:solidFill>
                  <a:srgbClr val="C1603A"/>
                </a:solidFill>
                <a:latin typeface="Calibri"/>
              </a:rPr>
              <a:t>Key takeaway:</a:t>
            </a:r>
          </a:p>
          <a:p>
            <a:pPr algn="l">
              <a:spcBef>
                <a:spcPts val="600"/>
              </a:spcBef>
            </a:pPr>
            <a:r>
              <a:rPr sz="1400" b="0" i="0">
                <a:solidFill>
                  <a:srgbClr val="3D2B1F"/>
                </a:solidFill>
                <a:latin typeface="Calibri"/>
              </a:rPr>
              <a:t>Baseline quality collapses on high-risk cases (±0.598 stdev) — without structure, responses are unpredictable exactly when it matters most. The pipeline's safety layer delivers 100% recall that the baseline cannot match.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247120" cy="685800"/>
          </a:xfrm>
          <a:prstGeom prst="rect">
            <a:avLst/>
          </a:prstGeom>
          <a:noFill/>
        </p:spPr>
        <p:txBody>
          <a:bodyPr wrap="square">
            <a:spAutoFit/>
          </a:bodyPr>
          <a:lstStyle/>
          <a:p>
            <a:pPr algn="l">
              <a:spcBef>
                <a:spcPts val="0"/>
              </a:spcBef>
            </a:pPr>
            <a:r>
              <a:rPr sz="3400" b="1" i="0">
                <a:solidFill>
                  <a:srgbClr val="3D2B1F"/>
                </a:solidFill>
                <a:latin typeface="Calibri"/>
              </a:rPr>
              <a:t>Demo: Pipeline vs Baseline  —  Job Search Anxiety</a:t>
            </a:r>
          </a:p>
        </p:txBody>
      </p:sp>
      <p:sp>
        <p:nvSpPr>
          <p:cNvPr id="4" name="Rectangle 3"/>
          <p:cNvSpPr/>
          <p:nvPr/>
        </p:nvSpPr>
        <p:spPr>
          <a:xfrm>
            <a:off x="502920" y="987552"/>
            <a:ext cx="11247120" cy="36576"/>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097280"/>
            <a:ext cx="11247120" cy="594360"/>
          </a:xfrm>
          <a:prstGeom prst="roundRect">
            <a:avLst/>
          </a:prstGeom>
          <a:solidFill>
            <a:srgbClr val="F7E8DA"/>
          </a:solidFill>
          <a:ln w="9525">
            <a:solidFill>
              <a:srgbClr val="C16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88720"/>
            <a:ext cx="10881360" cy="457200"/>
          </a:xfrm>
          <a:prstGeom prst="rect">
            <a:avLst/>
          </a:prstGeom>
          <a:noFill/>
        </p:spPr>
        <p:txBody>
          <a:bodyPr wrap="square">
            <a:spAutoFit/>
          </a:bodyPr>
          <a:lstStyle/>
          <a:p>
            <a:pPr algn="l">
              <a:spcBef>
                <a:spcPts val="0"/>
              </a:spcBef>
            </a:pPr>
            <a:r>
              <a:rPr sz="1400" b="0" i="1">
                <a:solidFill>
                  <a:srgbClr val="3D2B1F"/>
                </a:solidFill>
                <a:latin typeface="Calibri"/>
              </a:rPr>
              <a:t>👤  User (Turn 1):  "I've been applying for internships for three months. 47 applications, 2 interviews, 0 offers. I don't even know what's wrong with me anymore."</a:t>
            </a:r>
          </a:p>
        </p:txBody>
      </p:sp>
      <p:sp>
        <p:nvSpPr>
          <p:cNvPr id="7" name="TextBox 6"/>
          <p:cNvSpPr txBox="1"/>
          <p:nvPr/>
        </p:nvSpPr>
        <p:spPr>
          <a:xfrm>
            <a:off x="502920" y="1874519"/>
            <a:ext cx="5394960" cy="347472"/>
          </a:xfrm>
          <a:prstGeom prst="rect">
            <a:avLst/>
          </a:prstGeom>
          <a:noFill/>
        </p:spPr>
        <p:txBody>
          <a:bodyPr wrap="square">
            <a:spAutoFit/>
          </a:bodyPr>
          <a:lstStyle/>
          <a:p>
            <a:pPr algn="l">
              <a:spcBef>
                <a:spcPts val="0"/>
              </a:spcBef>
            </a:pPr>
            <a:r>
              <a:rPr sz="1600" b="1" i="0">
                <a:solidFill>
                  <a:srgbClr val="4A7257"/>
                </a:solidFill>
                <a:latin typeface="Calibri"/>
              </a:rPr>
              <a:t>🤖  MindBridge Multi-Agent</a:t>
            </a:r>
          </a:p>
        </p:txBody>
      </p:sp>
      <p:sp>
        <p:nvSpPr>
          <p:cNvPr id="8" name="Rounded Rectangle 7"/>
          <p:cNvSpPr/>
          <p:nvPr/>
        </p:nvSpPr>
        <p:spPr>
          <a:xfrm>
            <a:off x="502920" y="2286000"/>
            <a:ext cx="5394960" cy="169164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395728"/>
            <a:ext cx="5102352" cy="1481328"/>
          </a:xfrm>
          <a:prstGeom prst="rect">
            <a:avLst/>
          </a:prstGeom>
          <a:noFill/>
        </p:spPr>
        <p:txBody>
          <a:bodyPr wrap="square">
            <a:spAutoFit/>
          </a:bodyPr>
          <a:lstStyle/>
          <a:p>
            <a:pPr algn="l">
              <a:spcBef>
                <a:spcPts val="0"/>
              </a:spcBef>
            </a:pPr>
            <a:r>
              <a:rPr sz="1350" b="0" i="0">
                <a:solidFill>
                  <a:srgbClr val="3D2B1F"/>
                </a:solidFill>
                <a:latin typeface="Calibri"/>
              </a:rPr>
              <a:t>"Applying to 47 internships with only 2 interviews and no offers must feel incredibly discouraging and confusing. When you think about the interviews you had, what was going through your head about how you performed or how you were perceived?"</a:t>
            </a:r>
          </a:p>
        </p:txBody>
      </p:sp>
      <p:sp>
        <p:nvSpPr>
          <p:cNvPr id="10" name="Rounded Rectangle 9"/>
          <p:cNvSpPr/>
          <p:nvPr/>
        </p:nvSpPr>
        <p:spPr>
          <a:xfrm>
            <a:off x="658368" y="4041648"/>
            <a:ext cx="2377440" cy="292608"/>
          </a:xfrm>
          <a:prstGeom prst="round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078224"/>
            <a:ext cx="2267712" cy="219456"/>
          </a:xfrm>
          <a:prstGeom prst="rect">
            <a:avLst/>
          </a:prstGeom>
          <a:noFill/>
        </p:spPr>
        <p:txBody>
          <a:bodyPr wrap="square">
            <a:spAutoFit/>
          </a:bodyPr>
          <a:lstStyle/>
          <a:p>
            <a:pPr algn="ctr">
              <a:spcBef>
                <a:spcPts val="0"/>
              </a:spcBef>
            </a:pPr>
            <a:r>
              <a:rPr sz="1200" b="1" i="0">
                <a:solidFill>
                  <a:srgbClr val="4A7257"/>
                </a:solidFill>
                <a:latin typeface="Calibri"/>
              </a:rPr>
              <a:t>risk: low  ✦  job_search</a:t>
            </a:r>
          </a:p>
        </p:txBody>
      </p:sp>
      <p:sp>
        <p:nvSpPr>
          <p:cNvPr id="12" name="Rounded Rectangle 11"/>
          <p:cNvSpPr/>
          <p:nvPr/>
        </p:nvSpPr>
        <p:spPr>
          <a:xfrm>
            <a:off x="502920" y="4480560"/>
            <a:ext cx="5394960" cy="2194560"/>
          </a:xfrm>
          <a:prstGeom prst="roundRect">
            <a:avLst/>
          </a:prstGeom>
          <a:solidFill>
            <a:srgbClr val="F7E8DA"/>
          </a:solidFill>
          <a:ln w="9525">
            <a:solidFill>
              <a:srgbClr val="C16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590288"/>
            <a:ext cx="5102352" cy="1993392"/>
          </a:xfrm>
          <a:prstGeom prst="rect">
            <a:avLst/>
          </a:prstGeom>
          <a:noFill/>
        </p:spPr>
        <p:txBody>
          <a:bodyPr wrap="square">
            <a:spAutoFit/>
          </a:bodyPr>
          <a:lstStyle/>
          <a:p>
            <a:pPr algn="l">
              <a:spcBef>
                <a:spcPts val="0"/>
              </a:spcBef>
            </a:pPr>
            <a:r>
              <a:rPr sz="1400" b="1" i="0">
                <a:solidFill>
                  <a:srgbClr val="C1603A"/>
                </a:solidFill>
                <a:latin typeface="Calibri"/>
              </a:rPr>
              <a:t>✦ CBT in action:</a:t>
            </a:r>
          </a:p>
          <a:p>
            <a:pPr algn="l">
              <a:spcBef>
                <a:spcPts val="500"/>
              </a:spcBef>
            </a:pPr>
            <a:r>
              <a:rPr sz="1300" b="0" i="0">
                <a:solidFill>
                  <a:srgbClr val="3D2B1F"/>
                </a:solidFill>
                <a:latin typeface="Calibri"/>
              </a:rPr>
              <a:t>  · Acknowledges the specific effort (47 apps, not just vague rejection)</a:t>
            </a:r>
          </a:p>
          <a:p>
            <a:pPr algn="l">
              <a:spcBef>
                <a:spcPts val="500"/>
              </a:spcBef>
            </a:pPr>
            <a:r>
              <a:rPr sz="1300" b="0" i="0">
                <a:solidFill>
                  <a:srgbClr val="3D2B1F"/>
                </a:solidFill>
                <a:latin typeface="Calibri"/>
              </a:rPr>
              <a:t>  · Picks up on 'wrong with me' — a self-worth belief — and surfaces it</a:t>
            </a:r>
          </a:p>
          <a:p>
            <a:pPr algn="l">
              <a:spcBef>
                <a:spcPts val="500"/>
              </a:spcBef>
            </a:pPr>
            <a:r>
              <a:rPr sz="1300" b="0" i="0">
                <a:solidFill>
                  <a:srgbClr val="3D2B1F"/>
                </a:solidFill>
                <a:latin typeface="Calibri"/>
              </a:rPr>
              <a:t>  · Explores what happened in interviews → automatic thought identification</a:t>
            </a:r>
          </a:p>
        </p:txBody>
      </p:sp>
      <p:sp>
        <p:nvSpPr>
          <p:cNvPr id="14" name="Rectangle 13"/>
          <p:cNvSpPr/>
          <p:nvPr/>
        </p:nvSpPr>
        <p:spPr>
          <a:xfrm>
            <a:off x="6126480" y="1783080"/>
            <a:ext cx="45720" cy="4937760"/>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874519"/>
            <a:ext cx="5486400" cy="347472"/>
          </a:xfrm>
          <a:prstGeom prst="rect">
            <a:avLst/>
          </a:prstGeom>
          <a:noFill/>
        </p:spPr>
        <p:txBody>
          <a:bodyPr wrap="square">
            <a:spAutoFit/>
          </a:bodyPr>
          <a:lstStyle/>
          <a:p>
            <a:pPr algn="l">
              <a:spcBef>
                <a:spcPts val="0"/>
              </a:spcBef>
            </a:pPr>
            <a:r>
              <a:rPr sz="1600" b="1" i="0">
                <a:solidFill>
                  <a:srgbClr val="8A6F5A"/>
                </a:solidFill>
                <a:latin typeface="Calibri"/>
              </a:rPr>
              <a:t>🤖  Single-Agent Baseline</a:t>
            </a:r>
          </a:p>
        </p:txBody>
      </p:sp>
      <p:sp>
        <p:nvSpPr>
          <p:cNvPr id="16" name="Rounded Rectangle 15"/>
          <p:cNvSpPr/>
          <p:nvPr/>
        </p:nvSpPr>
        <p:spPr>
          <a:xfrm>
            <a:off x="6263640" y="2286000"/>
            <a:ext cx="5486400" cy="1005840"/>
          </a:xfrm>
          <a:prstGeom prst="roundRect">
            <a:avLst/>
          </a:prstGeom>
          <a:solidFill>
            <a:srgbClr val="FFF5EB"/>
          </a:solidFill>
          <a:ln w="9525">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2395728"/>
            <a:ext cx="5285232" cy="822960"/>
          </a:xfrm>
          <a:prstGeom prst="rect">
            <a:avLst/>
          </a:prstGeom>
          <a:noFill/>
        </p:spPr>
        <p:txBody>
          <a:bodyPr wrap="square">
            <a:spAutoFit/>
          </a:bodyPr>
          <a:lstStyle/>
          <a:p>
            <a:pPr algn="l">
              <a:spcBef>
                <a:spcPts val="0"/>
              </a:spcBef>
            </a:pPr>
            <a:r>
              <a:rPr sz="1350" b="0" i="0">
                <a:solidFill>
                  <a:srgbClr val="8A6F5A"/>
                </a:solidFill>
                <a:latin typeface="Calibri"/>
              </a:rPr>
              <a:t>"Ugh, 47 applications and only 2 interviews? That's brutal. What kind of internships are you going for?"</a:t>
            </a:r>
          </a:p>
        </p:txBody>
      </p:sp>
      <p:sp>
        <p:nvSpPr>
          <p:cNvPr id="18" name="Rounded Rectangle 17"/>
          <p:cNvSpPr/>
          <p:nvPr/>
        </p:nvSpPr>
        <p:spPr>
          <a:xfrm>
            <a:off x="6263640" y="3429000"/>
            <a:ext cx="5486400" cy="3246120"/>
          </a:xfrm>
          <a:prstGeom prst="roundRect">
            <a:avLst/>
          </a:prstGeom>
          <a:solidFill>
            <a:srgbClr val="F7E8DA"/>
          </a:solidFill>
          <a:ln w="9525">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9088" y="3547872"/>
            <a:ext cx="5285232" cy="3017520"/>
          </a:xfrm>
          <a:prstGeom prst="rect">
            <a:avLst/>
          </a:prstGeom>
          <a:noFill/>
        </p:spPr>
        <p:txBody>
          <a:bodyPr wrap="square">
            <a:spAutoFit/>
          </a:bodyPr>
          <a:lstStyle/>
          <a:p>
            <a:pPr algn="l">
              <a:spcBef>
                <a:spcPts val="0"/>
              </a:spcBef>
            </a:pPr>
            <a:r>
              <a:rPr sz="1400" b="1" i="0">
                <a:solidFill>
                  <a:srgbClr val="C1603A"/>
                </a:solidFill>
                <a:latin typeface="Calibri"/>
              </a:rPr>
              <a:t>What's missing:</a:t>
            </a:r>
          </a:p>
          <a:p>
            <a:pPr algn="l">
              <a:spcBef>
                <a:spcPts val="600"/>
              </a:spcBef>
            </a:pPr>
            <a:r>
              <a:rPr sz="1300" b="0" i="0">
                <a:solidFill>
                  <a:srgbClr val="3D2B1F"/>
                </a:solidFill>
                <a:latin typeface="Calibri"/>
              </a:rPr>
              <a:t>  ✗  Skips emotional validation — jumps straight to practical question</a:t>
            </a:r>
          </a:p>
          <a:p>
            <a:pPr algn="l">
              <a:spcBef>
                <a:spcPts val="600"/>
              </a:spcBef>
            </a:pPr>
            <a:r>
              <a:rPr sz="1300" b="0" i="0">
                <a:solidFill>
                  <a:srgbClr val="3D2B1F"/>
                </a:solidFill>
                <a:latin typeface="Calibri"/>
              </a:rPr>
              <a:t>  ✗  'What's wrong with me' self-worth thought goes completely unaddressed</a:t>
            </a:r>
          </a:p>
          <a:p>
            <a:pPr algn="l">
              <a:spcBef>
                <a:spcPts val="600"/>
              </a:spcBef>
            </a:pPr>
            <a:r>
              <a:rPr sz="1300" b="0" i="0">
                <a:solidFill>
                  <a:srgbClr val="3D2B1F"/>
                </a:solidFill>
                <a:latin typeface="Calibri"/>
              </a:rPr>
              <a:t>  ✗  No scenario routing: treats this the same as generic venting</a:t>
            </a:r>
          </a:p>
          <a:p>
            <a:pPr algn="l">
              <a:spcBef>
                <a:spcPts val="600"/>
              </a:spcBef>
            </a:pPr>
            <a:r>
              <a:rPr sz="1300" b="0" i="0">
                <a:solidFill>
                  <a:srgbClr val="3D2B1F"/>
                </a:solidFill>
                <a:latin typeface="Calibri"/>
              </a:rPr>
              <a:t>  ✗  On Turn 3 ('I don't belong in this field') — will offer resume tips, not belief exploration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247120" cy="685800"/>
          </a:xfrm>
          <a:prstGeom prst="rect">
            <a:avLst/>
          </a:prstGeom>
          <a:noFill/>
        </p:spPr>
        <p:txBody>
          <a:bodyPr wrap="square">
            <a:spAutoFit/>
          </a:bodyPr>
          <a:lstStyle/>
          <a:p>
            <a:pPr algn="l">
              <a:spcBef>
                <a:spcPts val="0"/>
              </a:spcBef>
            </a:pPr>
            <a:r>
              <a:rPr sz="3400" b="1" i="0">
                <a:solidFill>
                  <a:srgbClr val="3D2B1F"/>
                </a:solidFill>
                <a:latin typeface="Calibri"/>
              </a:rPr>
              <a:t>Evaluation Case Studies  —  Pipeline vs Baseline</a:t>
            </a:r>
          </a:p>
        </p:txBody>
      </p:sp>
      <p:sp>
        <p:nvSpPr>
          <p:cNvPr id="4" name="Rectangle 3"/>
          <p:cNvSpPr/>
          <p:nvPr/>
        </p:nvSpPr>
        <p:spPr>
          <a:xfrm>
            <a:off x="502920" y="987552"/>
            <a:ext cx="11247120" cy="36576"/>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078992"/>
            <a:ext cx="5486400" cy="274320"/>
          </a:xfrm>
          <a:prstGeom prst="round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124712"/>
            <a:ext cx="5303520" cy="201168"/>
          </a:xfrm>
          <a:prstGeom prst="rect">
            <a:avLst/>
          </a:prstGeom>
          <a:noFill/>
        </p:spPr>
        <p:txBody>
          <a:bodyPr wrap="square">
            <a:spAutoFit/>
          </a:bodyPr>
          <a:lstStyle/>
          <a:p>
            <a:pPr algn="l">
              <a:spcBef>
                <a:spcPts val="0"/>
              </a:spcBef>
            </a:pPr>
            <a:r>
              <a:rPr sz="1000" b="1" i="0">
                <a:solidFill>
                  <a:srgbClr val="FFFFFF"/>
                </a:solidFill>
                <a:latin typeface="Calibri"/>
              </a:rPr>
              <a:t>case_009  |  job_search  |  risk: low  |  Judge Δ Overall = +0.75</a:t>
            </a:r>
          </a:p>
        </p:txBody>
      </p:sp>
      <p:sp>
        <p:nvSpPr>
          <p:cNvPr id="7" name="Rounded Rectangle 6"/>
          <p:cNvSpPr/>
          <p:nvPr/>
        </p:nvSpPr>
        <p:spPr>
          <a:xfrm>
            <a:off x="411480" y="1463040"/>
            <a:ext cx="5486400" cy="658368"/>
          </a:xfrm>
          <a:prstGeom prst="roundRect">
            <a:avLst/>
          </a:prstGeom>
          <a:solidFill>
            <a:srgbClr val="F7E8DA"/>
          </a:solidFill>
          <a:ln w="9525">
            <a:solidFill>
              <a:srgbClr val="C16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554480"/>
            <a:ext cx="5266944" cy="493776"/>
          </a:xfrm>
          <a:prstGeom prst="rect">
            <a:avLst/>
          </a:prstGeom>
          <a:noFill/>
        </p:spPr>
        <p:txBody>
          <a:bodyPr wrap="square">
            <a:spAutoFit/>
          </a:bodyPr>
          <a:lstStyle/>
          <a:p>
            <a:pPr algn="l">
              <a:spcBef>
                <a:spcPts val="0"/>
              </a:spcBef>
            </a:pPr>
            <a:r>
              <a:rPr sz="1300" b="0" i="1">
                <a:solidFill>
                  <a:srgbClr val="3D2B1F"/>
                </a:solidFill>
                <a:latin typeface="Calibri"/>
              </a:rPr>
              <a:t>👤  "I have sent many applications with no replies, and I am losing motivation."</a:t>
            </a:r>
          </a:p>
        </p:txBody>
      </p:sp>
      <p:sp>
        <p:nvSpPr>
          <p:cNvPr id="9" name="Rounded Rectangle 8"/>
          <p:cNvSpPr/>
          <p:nvPr/>
        </p:nvSpPr>
        <p:spPr>
          <a:xfrm>
            <a:off x="411480" y="2231136"/>
            <a:ext cx="5486400" cy="192024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322576"/>
            <a:ext cx="5303520" cy="274320"/>
          </a:xfrm>
          <a:prstGeom prst="rect">
            <a:avLst/>
          </a:prstGeom>
          <a:noFill/>
        </p:spPr>
        <p:txBody>
          <a:bodyPr wrap="square">
            <a:spAutoFit/>
          </a:bodyPr>
          <a:lstStyle/>
          <a:p>
            <a:pPr algn="l">
              <a:spcBef>
                <a:spcPts val="0"/>
              </a:spcBef>
            </a:pPr>
            <a:r>
              <a:rPr sz="1300" b="1" i="0">
                <a:solidFill>
                  <a:srgbClr val="4A7257"/>
                </a:solidFill>
                <a:latin typeface="Calibri"/>
              </a:rPr>
              <a:t>🤖  MindBridge Multi-Agent</a:t>
            </a:r>
          </a:p>
        </p:txBody>
      </p:sp>
      <p:sp>
        <p:nvSpPr>
          <p:cNvPr id="11" name="TextBox 10"/>
          <p:cNvSpPr txBox="1"/>
          <p:nvPr/>
        </p:nvSpPr>
        <p:spPr>
          <a:xfrm>
            <a:off x="502920" y="2633472"/>
            <a:ext cx="5303520" cy="1426464"/>
          </a:xfrm>
          <a:prstGeom prst="rect">
            <a:avLst/>
          </a:prstGeom>
          <a:noFill/>
        </p:spPr>
        <p:txBody>
          <a:bodyPr wrap="square">
            <a:spAutoFit/>
          </a:bodyPr>
          <a:lstStyle/>
          <a:p>
            <a:pPr algn="l">
              <a:spcBef>
                <a:spcPts val="0"/>
              </a:spcBef>
            </a:pPr>
            <a:r>
              <a:rPr sz="1300" b="0" i="0">
                <a:solidFill>
                  <a:srgbClr val="3D2B1F"/>
                </a:solidFill>
                <a:latin typeface="Calibri"/>
              </a:rPr>
              <a:t>Sending out so many applications without a single reply must feel really disheartening and exhausting. What thoughts go through your mind when you don't hear back after sending an application?</a:t>
            </a:r>
          </a:p>
        </p:txBody>
      </p:sp>
      <p:sp>
        <p:nvSpPr>
          <p:cNvPr id="12" name="Rounded Rectangle 11"/>
          <p:cNvSpPr/>
          <p:nvPr/>
        </p:nvSpPr>
        <p:spPr>
          <a:xfrm>
            <a:off x="411480" y="4261104"/>
            <a:ext cx="5486400" cy="1353312"/>
          </a:xfrm>
          <a:prstGeom prst="roundRect">
            <a:avLst/>
          </a:prstGeom>
          <a:solidFill>
            <a:srgbClr val="FFF5EB"/>
          </a:solidFill>
          <a:ln w="9525">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4352544"/>
            <a:ext cx="5303520" cy="274320"/>
          </a:xfrm>
          <a:prstGeom prst="rect">
            <a:avLst/>
          </a:prstGeom>
          <a:noFill/>
        </p:spPr>
        <p:txBody>
          <a:bodyPr wrap="square">
            <a:spAutoFit/>
          </a:bodyPr>
          <a:lstStyle/>
          <a:p>
            <a:pPr algn="l">
              <a:spcBef>
                <a:spcPts val="0"/>
              </a:spcBef>
            </a:pPr>
            <a:r>
              <a:rPr sz="1300" b="1" i="0">
                <a:solidFill>
                  <a:srgbClr val="8A6F5A"/>
                </a:solidFill>
                <a:latin typeface="Calibri"/>
              </a:rPr>
              <a:t>🤖  Single-Agent Baseline</a:t>
            </a:r>
          </a:p>
        </p:txBody>
      </p:sp>
      <p:sp>
        <p:nvSpPr>
          <p:cNvPr id="14" name="TextBox 13"/>
          <p:cNvSpPr txBox="1"/>
          <p:nvPr/>
        </p:nvSpPr>
        <p:spPr>
          <a:xfrm>
            <a:off x="502920" y="4663440"/>
            <a:ext cx="5303520" cy="859536"/>
          </a:xfrm>
          <a:prstGeom prst="rect">
            <a:avLst/>
          </a:prstGeom>
          <a:noFill/>
        </p:spPr>
        <p:txBody>
          <a:bodyPr wrap="square">
            <a:spAutoFit/>
          </a:bodyPr>
          <a:lstStyle/>
          <a:p>
            <a:pPr algn="l">
              <a:spcBef>
                <a:spcPts val="0"/>
              </a:spcBef>
            </a:pPr>
            <a:r>
              <a:rPr sz="1300" b="0" i="0">
                <a:solidFill>
                  <a:srgbClr val="8A6F5A"/>
                </a:solidFill>
                <a:latin typeface="Calibri"/>
              </a:rPr>
              <a:t>Ugh, that waiting game is the worst. What kind of jobs have you been applying to?</a:t>
            </a:r>
          </a:p>
        </p:txBody>
      </p:sp>
      <p:sp>
        <p:nvSpPr>
          <p:cNvPr id="15" name="Rounded Rectangle 14"/>
          <p:cNvSpPr/>
          <p:nvPr/>
        </p:nvSpPr>
        <p:spPr>
          <a:xfrm>
            <a:off x="411480" y="5724144"/>
            <a:ext cx="5486400" cy="1097280"/>
          </a:xfrm>
          <a:prstGeom prst="roundRect">
            <a:avLst/>
          </a:prstGeom>
          <a:solidFill>
            <a:srgbClr val="F7E8DA"/>
          </a:solidFill>
          <a:ln w="9525">
            <a:solidFill>
              <a:srgbClr val="C16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815584"/>
            <a:ext cx="5303520" cy="932688"/>
          </a:xfrm>
          <a:prstGeom prst="rect">
            <a:avLst/>
          </a:prstGeom>
          <a:noFill/>
        </p:spPr>
        <p:txBody>
          <a:bodyPr wrap="square">
            <a:spAutoFit/>
          </a:bodyPr>
          <a:lstStyle/>
          <a:p>
            <a:pPr algn="l">
              <a:spcBef>
                <a:spcPts val="0"/>
              </a:spcBef>
            </a:pPr>
            <a:r>
              <a:rPr sz="1200" b="0" i="1">
                <a:solidFill>
                  <a:srgbClr val="3D2B1F"/>
                </a:solidFill>
                <a:latin typeface="Calibri"/>
              </a:rPr>
              <a:t>✦  Pipeline validates the emotional weight, surfaces the 'losing motivation' belief, and opens a Socratic question. Baseline skips validation and jumps to practical info.</a:t>
            </a:r>
          </a:p>
        </p:txBody>
      </p:sp>
      <p:sp>
        <p:nvSpPr>
          <p:cNvPr id="17" name="Rounded Rectangle 16"/>
          <p:cNvSpPr/>
          <p:nvPr/>
        </p:nvSpPr>
        <p:spPr>
          <a:xfrm>
            <a:off x="6309360" y="1078992"/>
            <a:ext cx="5486400" cy="274320"/>
          </a:xfrm>
          <a:prstGeom prst="round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124712"/>
            <a:ext cx="5303520" cy="201168"/>
          </a:xfrm>
          <a:prstGeom prst="rect">
            <a:avLst/>
          </a:prstGeom>
          <a:noFill/>
        </p:spPr>
        <p:txBody>
          <a:bodyPr wrap="square">
            <a:spAutoFit/>
          </a:bodyPr>
          <a:lstStyle/>
          <a:p>
            <a:pPr algn="l">
              <a:spcBef>
                <a:spcPts val="0"/>
              </a:spcBef>
            </a:pPr>
            <a:r>
              <a:rPr sz="1000" b="1" i="0">
                <a:solidFill>
                  <a:srgbClr val="FFFFFF"/>
                </a:solidFill>
                <a:latin typeface="Calibri"/>
              </a:rPr>
              <a:t>case_010  |  financial_stress  |  risk: low  |  Judge Δ Overall = +0.75</a:t>
            </a:r>
          </a:p>
        </p:txBody>
      </p:sp>
      <p:sp>
        <p:nvSpPr>
          <p:cNvPr id="19" name="Rounded Rectangle 18"/>
          <p:cNvSpPr/>
          <p:nvPr/>
        </p:nvSpPr>
        <p:spPr>
          <a:xfrm>
            <a:off x="6309360" y="1463040"/>
            <a:ext cx="5486400" cy="658368"/>
          </a:xfrm>
          <a:prstGeom prst="roundRect">
            <a:avLst/>
          </a:prstGeom>
          <a:solidFill>
            <a:srgbClr val="F7E8DA"/>
          </a:solidFill>
          <a:ln w="9525">
            <a:solidFill>
              <a:srgbClr val="C16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1554480"/>
            <a:ext cx="5266944" cy="493776"/>
          </a:xfrm>
          <a:prstGeom prst="rect">
            <a:avLst/>
          </a:prstGeom>
          <a:noFill/>
        </p:spPr>
        <p:txBody>
          <a:bodyPr wrap="square">
            <a:spAutoFit/>
          </a:bodyPr>
          <a:lstStyle/>
          <a:p>
            <a:pPr algn="l">
              <a:spcBef>
                <a:spcPts val="0"/>
              </a:spcBef>
            </a:pPr>
            <a:r>
              <a:rPr sz="1300" b="0" i="1">
                <a:solidFill>
                  <a:srgbClr val="3D2B1F"/>
                </a:solidFill>
                <a:latin typeface="Calibri"/>
              </a:rPr>
              <a:t>👤  "Money is tight this month and I am stressed about paying all my bills on time."</a:t>
            </a:r>
          </a:p>
        </p:txBody>
      </p:sp>
      <p:sp>
        <p:nvSpPr>
          <p:cNvPr id="21" name="Rounded Rectangle 20"/>
          <p:cNvSpPr/>
          <p:nvPr/>
        </p:nvSpPr>
        <p:spPr>
          <a:xfrm>
            <a:off x="6309360" y="2231136"/>
            <a:ext cx="5486400" cy="192024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322576"/>
            <a:ext cx="5303520" cy="274320"/>
          </a:xfrm>
          <a:prstGeom prst="rect">
            <a:avLst/>
          </a:prstGeom>
          <a:noFill/>
        </p:spPr>
        <p:txBody>
          <a:bodyPr wrap="square">
            <a:spAutoFit/>
          </a:bodyPr>
          <a:lstStyle/>
          <a:p>
            <a:pPr algn="l">
              <a:spcBef>
                <a:spcPts val="0"/>
              </a:spcBef>
            </a:pPr>
            <a:r>
              <a:rPr sz="1300" b="1" i="0">
                <a:solidFill>
                  <a:srgbClr val="4A7257"/>
                </a:solidFill>
                <a:latin typeface="Calibri"/>
              </a:rPr>
              <a:t>🤖  MindBridge Multi-Agent</a:t>
            </a:r>
          </a:p>
        </p:txBody>
      </p:sp>
      <p:sp>
        <p:nvSpPr>
          <p:cNvPr id="23" name="TextBox 22"/>
          <p:cNvSpPr txBox="1"/>
          <p:nvPr/>
        </p:nvSpPr>
        <p:spPr>
          <a:xfrm>
            <a:off x="6400800" y="2633472"/>
            <a:ext cx="5303520" cy="1426464"/>
          </a:xfrm>
          <a:prstGeom prst="rect">
            <a:avLst/>
          </a:prstGeom>
          <a:noFill/>
        </p:spPr>
        <p:txBody>
          <a:bodyPr wrap="square">
            <a:spAutoFit/>
          </a:bodyPr>
          <a:lstStyle/>
          <a:p>
            <a:pPr algn="l">
              <a:spcBef>
                <a:spcPts val="0"/>
              </a:spcBef>
            </a:pPr>
            <a:r>
              <a:rPr sz="1300" b="0" i="0">
                <a:solidFill>
                  <a:srgbClr val="3D2B1F"/>
                </a:solidFill>
                <a:latin typeface="Calibri"/>
              </a:rPr>
              <a:t>Trying to juggle all your bills when money is tight is seriously overwhelming. What is the specific worry that comes up first when you think about paying your bills this month?</a:t>
            </a:r>
          </a:p>
        </p:txBody>
      </p:sp>
      <p:sp>
        <p:nvSpPr>
          <p:cNvPr id="24" name="Rounded Rectangle 23"/>
          <p:cNvSpPr/>
          <p:nvPr/>
        </p:nvSpPr>
        <p:spPr>
          <a:xfrm>
            <a:off x="6309360" y="4261104"/>
            <a:ext cx="5486400" cy="1353312"/>
          </a:xfrm>
          <a:prstGeom prst="roundRect">
            <a:avLst/>
          </a:prstGeom>
          <a:solidFill>
            <a:srgbClr val="FFF5EB"/>
          </a:solidFill>
          <a:ln w="9525">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352544"/>
            <a:ext cx="5303520" cy="274320"/>
          </a:xfrm>
          <a:prstGeom prst="rect">
            <a:avLst/>
          </a:prstGeom>
          <a:noFill/>
        </p:spPr>
        <p:txBody>
          <a:bodyPr wrap="square">
            <a:spAutoFit/>
          </a:bodyPr>
          <a:lstStyle/>
          <a:p>
            <a:pPr algn="l">
              <a:spcBef>
                <a:spcPts val="0"/>
              </a:spcBef>
            </a:pPr>
            <a:r>
              <a:rPr sz="1300" b="1" i="0">
                <a:solidFill>
                  <a:srgbClr val="8A6F5A"/>
                </a:solidFill>
                <a:latin typeface="Calibri"/>
              </a:rPr>
              <a:t>🤖  Single-Agent Baseline</a:t>
            </a:r>
          </a:p>
        </p:txBody>
      </p:sp>
      <p:sp>
        <p:nvSpPr>
          <p:cNvPr id="26" name="TextBox 25"/>
          <p:cNvSpPr txBox="1"/>
          <p:nvPr/>
        </p:nvSpPr>
        <p:spPr>
          <a:xfrm>
            <a:off x="6400800" y="4663440"/>
            <a:ext cx="5303520" cy="859536"/>
          </a:xfrm>
          <a:prstGeom prst="rect">
            <a:avLst/>
          </a:prstGeom>
          <a:noFill/>
        </p:spPr>
        <p:txBody>
          <a:bodyPr wrap="square">
            <a:spAutoFit/>
          </a:bodyPr>
          <a:lstStyle/>
          <a:p>
            <a:pPr algn="l">
              <a:spcBef>
                <a:spcPts val="0"/>
              </a:spcBef>
            </a:pPr>
            <a:r>
              <a:rPr sz="1300" b="0" i="0">
                <a:solidFill>
                  <a:srgbClr val="8A6F5A"/>
                </a:solidFill>
                <a:latin typeface="Calibri"/>
              </a:rPr>
              <a:t>Ugh, money stress is the worst. Do you have any bills that are more flexible on the due date, or is everything locked in?</a:t>
            </a:r>
          </a:p>
        </p:txBody>
      </p:sp>
      <p:sp>
        <p:nvSpPr>
          <p:cNvPr id="27" name="Rounded Rectangle 26"/>
          <p:cNvSpPr/>
          <p:nvPr/>
        </p:nvSpPr>
        <p:spPr>
          <a:xfrm>
            <a:off x="6309360" y="5724144"/>
            <a:ext cx="5486400" cy="1097280"/>
          </a:xfrm>
          <a:prstGeom prst="roundRect">
            <a:avLst/>
          </a:prstGeom>
          <a:solidFill>
            <a:srgbClr val="F7E8DA"/>
          </a:solidFill>
          <a:ln w="9525">
            <a:solidFill>
              <a:srgbClr val="C16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5815584"/>
            <a:ext cx="5303520" cy="932688"/>
          </a:xfrm>
          <a:prstGeom prst="rect">
            <a:avLst/>
          </a:prstGeom>
          <a:noFill/>
        </p:spPr>
        <p:txBody>
          <a:bodyPr wrap="square">
            <a:spAutoFit/>
          </a:bodyPr>
          <a:lstStyle/>
          <a:p>
            <a:pPr algn="l">
              <a:spcBef>
                <a:spcPts val="0"/>
              </a:spcBef>
            </a:pPr>
            <a:r>
              <a:rPr sz="1200" b="0" i="1">
                <a:solidFill>
                  <a:srgbClr val="3D2B1F"/>
                </a:solidFill>
                <a:latin typeface="Calibri"/>
              </a:rPr>
              <a:t>✦  Pipeline names the emotion ('overwhelming'), narrows to the most pressing worry, and avoids jumping to solutions. Baseline immediately pivots to practical problem-solving.</a:t>
            </a:r>
          </a:p>
        </p:txBody>
      </p:sp>
      <p:sp>
        <p:nvSpPr>
          <p:cNvPr id="29" name="Rectangle 28"/>
          <p:cNvSpPr/>
          <p:nvPr/>
        </p:nvSpPr>
        <p:spPr>
          <a:xfrm>
            <a:off x="6062472" y="1078992"/>
            <a:ext cx="36576" cy="5742432"/>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247120" cy="685800"/>
          </a:xfrm>
          <a:prstGeom prst="rect">
            <a:avLst/>
          </a:prstGeom>
          <a:noFill/>
        </p:spPr>
        <p:txBody>
          <a:bodyPr wrap="square">
            <a:spAutoFit/>
          </a:bodyPr>
          <a:lstStyle/>
          <a:p>
            <a:pPr algn="l">
              <a:spcBef>
                <a:spcPts val="0"/>
              </a:spcBef>
            </a:pPr>
            <a:r>
              <a:rPr sz="3400" b="1" i="0">
                <a:solidFill>
                  <a:srgbClr val="3D2B1F"/>
                </a:solidFill>
                <a:latin typeface="Calibri"/>
              </a:rPr>
              <a:t>Ablation Study  —  Which Component Matters?</a:t>
            </a:r>
          </a:p>
        </p:txBody>
      </p:sp>
      <p:sp>
        <p:nvSpPr>
          <p:cNvPr id="4" name="Rectangle 3"/>
          <p:cNvSpPr/>
          <p:nvPr/>
        </p:nvSpPr>
        <p:spPr>
          <a:xfrm>
            <a:off x="502920" y="987552"/>
            <a:ext cx="11247120" cy="36576"/>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2_delta_vs_baseline.png"/>
          <p:cNvPicPr>
            <a:picLocks noChangeAspect="1"/>
          </p:cNvPicPr>
          <p:nvPr/>
        </p:nvPicPr>
        <p:blipFill>
          <a:blip r:embed="rId2"/>
          <a:stretch>
            <a:fillRect/>
          </a:stretch>
        </p:blipFill>
        <p:spPr>
          <a:xfrm>
            <a:off x="320040" y="1051560"/>
            <a:ext cx="8138160" cy="3703320"/>
          </a:xfrm>
          <a:prstGeom prst="rect">
            <a:avLst/>
          </a:prstGeom>
        </p:spPr>
      </p:pic>
      <p:sp>
        <p:nvSpPr>
          <p:cNvPr id="6" name="Rounded Rectangle 5"/>
          <p:cNvSpPr/>
          <p:nvPr/>
        </p:nvSpPr>
        <p:spPr>
          <a:xfrm>
            <a:off x="8549640" y="1051560"/>
            <a:ext cx="3429000" cy="182880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41080" y="1188719"/>
            <a:ext cx="3246120" cy="1554480"/>
          </a:xfrm>
          <a:prstGeom prst="rect">
            <a:avLst/>
          </a:prstGeom>
          <a:noFill/>
        </p:spPr>
        <p:txBody>
          <a:bodyPr wrap="square">
            <a:spAutoFit/>
          </a:bodyPr>
          <a:lstStyle/>
          <a:p>
            <a:pPr algn="ctr">
              <a:spcBef>
                <a:spcPts val="0"/>
              </a:spcBef>
            </a:pPr>
            <a:r>
              <a:rPr sz="5200" b="1" i="0">
                <a:solidFill>
                  <a:srgbClr val="4A7257"/>
                </a:solidFill>
                <a:latin typeface="Calibri"/>
              </a:rPr>
              <a:t>100%</a:t>
            </a:r>
          </a:p>
          <a:p>
            <a:pPr algn="ctr">
              <a:spcBef>
                <a:spcPts val="0"/>
              </a:spcBef>
            </a:pPr>
            <a:r>
              <a:rPr sz="1400" b="0" i="0">
                <a:solidFill>
                  <a:srgbClr val="3D2B1F"/>
                </a:solidFill>
                <a:latin typeface="Calibri"/>
              </a:rPr>
              <a:t>safety recall
(full pipeline)</a:t>
            </a:r>
          </a:p>
        </p:txBody>
      </p:sp>
      <p:sp>
        <p:nvSpPr>
          <p:cNvPr id="8" name="Rounded Rectangle 7"/>
          <p:cNvSpPr/>
          <p:nvPr/>
        </p:nvSpPr>
        <p:spPr>
          <a:xfrm>
            <a:off x="8549640" y="3017520"/>
            <a:ext cx="3429000" cy="173736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41080" y="3154679"/>
            <a:ext cx="3246120" cy="1463039"/>
          </a:xfrm>
          <a:prstGeom prst="rect">
            <a:avLst/>
          </a:prstGeom>
          <a:noFill/>
        </p:spPr>
        <p:txBody>
          <a:bodyPr wrap="square">
            <a:spAutoFit/>
          </a:bodyPr>
          <a:lstStyle/>
          <a:p>
            <a:pPr algn="ctr">
              <a:spcBef>
                <a:spcPts val="0"/>
              </a:spcBef>
            </a:pPr>
            <a:r>
              <a:rPr sz="5200" b="1" i="0">
                <a:solidFill>
                  <a:srgbClr val="8A6F5A"/>
                </a:solidFill>
                <a:latin typeface="Calibri"/>
              </a:rPr>
              <a:t>0%</a:t>
            </a:r>
          </a:p>
          <a:p>
            <a:pPr algn="ctr">
              <a:spcBef>
                <a:spcPts val="0"/>
              </a:spcBef>
            </a:pPr>
            <a:r>
              <a:rPr sz="1400" b="0" i="0">
                <a:solidFill>
                  <a:srgbClr val="3D2B1F"/>
                </a:solidFill>
                <a:latin typeface="Calibri"/>
              </a:rPr>
              <a:t>safety recall
(no safety agent)</a:t>
            </a:r>
          </a:p>
        </p:txBody>
      </p:sp>
      <p:sp>
        <p:nvSpPr>
          <p:cNvPr id="10" name="Rounded Rectangle 9"/>
          <p:cNvSpPr/>
          <p:nvPr/>
        </p:nvSpPr>
        <p:spPr>
          <a:xfrm>
            <a:off x="320040" y="4828032"/>
            <a:ext cx="11521440" cy="178308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937760"/>
            <a:ext cx="11155680" cy="1572768"/>
          </a:xfrm>
          <a:prstGeom prst="rect">
            <a:avLst/>
          </a:prstGeom>
          <a:noFill/>
        </p:spPr>
        <p:txBody>
          <a:bodyPr wrap="square">
            <a:spAutoFit/>
          </a:bodyPr>
          <a:lstStyle/>
          <a:p>
            <a:pPr algn="l">
              <a:spcBef>
                <a:spcPts val="0"/>
              </a:spcBef>
            </a:pPr>
            <a:r>
              <a:rPr sz="1500" b="1" i="0">
                <a:solidFill>
                  <a:srgbClr val="4A7257"/>
                </a:solidFill>
                <a:latin typeface="Calibri"/>
              </a:rPr>
              <a:t>Key Insight:</a:t>
            </a:r>
          </a:p>
          <a:p>
            <a:pPr algn="l">
              <a:spcBef>
                <a:spcPts val="600"/>
              </a:spcBef>
            </a:pPr>
            <a:r>
              <a:rPr sz="1350" b="0" i="0">
                <a:solidFill>
                  <a:srgbClr val="3D2B1F"/>
                </a:solidFill>
                <a:latin typeface="Calibri"/>
              </a:rPr>
              <a:t>  ·  Ablation 'wins' on low-risk are misleading — simpler responses score better on casual inputs, but that's the wrong benchmark</a:t>
            </a:r>
          </a:p>
          <a:p>
            <a:pPr algn="l">
              <a:spcBef>
                <a:spcPts val="600"/>
              </a:spcBef>
            </a:pPr>
            <a:r>
              <a:rPr sz="1350" b="0" i="0">
                <a:solidFill>
                  <a:srgbClr val="3D2B1F"/>
                </a:solidFill>
                <a:latin typeface="Calibri"/>
              </a:rPr>
              <a:t>  ·  The full pipeline's value is on high-risk: 92% pairwise win rate and 100% safety recall — impossible without the safety layer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247120" cy="685800"/>
          </a:xfrm>
          <a:prstGeom prst="rect">
            <a:avLst/>
          </a:prstGeom>
          <a:noFill/>
        </p:spPr>
        <p:txBody>
          <a:bodyPr wrap="square">
            <a:spAutoFit/>
          </a:bodyPr>
          <a:lstStyle/>
          <a:p>
            <a:pPr algn="l">
              <a:spcBef>
                <a:spcPts val="0"/>
              </a:spcBef>
            </a:pPr>
            <a:r>
              <a:rPr sz="3400" b="1" i="0">
                <a:solidFill>
                  <a:srgbClr val="3D2B1F"/>
                </a:solidFill>
                <a:latin typeface="Calibri"/>
              </a:rPr>
              <a:t>4.3.1 Performance  —  Latency &amp; Response Quality</a:t>
            </a:r>
          </a:p>
        </p:txBody>
      </p:sp>
      <p:sp>
        <p:nvSpPr>
          <p:cNvPr id="4" name="Rectangle 3"/>
          <p:cNvSpPr/>
          <p:nvPr/>
        </p:nvSpPr>
        <p:spPr>
          <a:xfrm>
            <a:off x="502920" y="987552"/>
            <a:ext cx="11247120" cy="36576"/>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5_runtime.png"/>
          <p:cNvPicPr>
            <a:picLocks noChangeAspect="1"/>
          </p:cNvPicPr>
          <p:nvPr/>
        </p:nvPicPr>
        <p:blipFill>
          <a:blip r:embed="rId2"/>
          <a:stretch>
            <a:fillRect/>
          </a:stretch>
        </p:blipFill>
        <p:spPr>
          <a:xfrm>
            <a:off x="320040" y="1051560"/>
            <a:ext cx="8138160" cy="3749039"/>
          </a:xfrm>
          <a:prstGeom prst="rect">
            <a:avLst/>
          </a:prstGeom>
        </p:spPr>
      </p:pic>
      <p:sp>
        <p:nvSpPr>
          <p:cNvPr id="6" name="Rounded Rectangle 5"/>
          <p:cNvSpPr/>
          <p:nvPr/>
        </p:nvSpPr>
        <p:spPr>
          <a:xfrm>
            <a:off x="8549640" y="1051560"/>
            <a:ext cx="3429000" cy="169164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41080" y="1188719"/>
            <a:ext cx="3246120" cy="1417320"/>
          </a:xfrm>
          <a:prstGeom prst="rect">
            <a:avLst/>
          </a:prstGeom>
          <a:noFill/>
        </p:spPr>
        <p:txBody>
          <a:bodyPr wrap="square">
            <a:spAutoFit/>
          </a:bodyPr>
          <a:lstStyle/>
          <a:p>
            <a:pPr algn="ctr">
              <a:spcBef>
                <a:spcPts val="0"/>
              </a:spcBef>
            </a:pPr>
            <a:r>
              <a:rPr sz="5200" b="1" i="0">
                <a:solidFill>
                  <a:srgbClr val="C1603A"/>
                </a:solidFill>
                <a:latin typeface="Calibri"/>
              </a:rPr>
              <a:t>22.6s</a:t>
            </a:r>
          </a:p>
          <a:p>
            <a:pPr algn="ctr">
              <a:spcBef>
                <a:spcPts val="0"/>
              </a:spcBef>
            </a:pPr>
            <a:r>
              <a:rPr sz="1400" b="0" i="0">
                <a:solidFill>
                  <a:srgbClr val="3D2B1F"/>
                </a:solidFill>
                <a:latin typeface="Calibri"/>
              </a:rPr>
              <a:t>full pipeline
avg latency</a:t>
            </a:r>
          </a:p>
        </p:txBody>
      </p:sp>
      <p:sp>
        <p:nvSpPr>
          <p:cNvPr id="8" name="Rounded Rectangle 7"/>
          <p:cNvSpPr/>
          <p:nvPr/>
        </p:nvSpPr>
        <p:spPr>
          <a:xfrm>
            <a:off x="8549640" y="2862072"/>
            <a:ext cx="3429000" cy="1691640"/>
          </a:xfrm>
          <a:prstGeom prst="roundRect">
            <a:avLst/>
          </a:prstGeom>
          <a:solidFill>
            <a:srgbClr val="FFF5EB"/>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41080" y="2999232"/>
            <a:ext cx="3246120" cy="1417320"/>
          </a:xfrm>
          <a:prstGeom prst="rect">
            <a:avLst/>
          </a:prstGeom>
          <a:noFill/>
        </p:spPr>
        <p:txBody>
          <a:bodyPr wrap="square">
            <a:spAutoFit/>
          </a:bodyPr>
          <a:lstStyle/>
          <a:p>
            <a:pPr algn="ctr">
              <a:spcBef>
                <a:spcPts val="0"/>
              </a:spcBef>
            </a:pPr>
            <a:r>
              <a:rPr sz="5200" b="1" i="0">
                <a:solidFill>
                  <a:srgbClr val="8A6F5A"/>
                </a:solidFill>
                <a:latin typeface="Calibri"/>
              </a:rPr>
              <a:t>1.6s</a:t>
            </a:r>
          </a:p>
          <a:p>
            <a:pPr algn="ctr">
              <a:spcBef>
                <a:spcPts val="0"/>
              </a:spcBef>
            </a:pPr>
            <a:r>
              <a:rPr sz="1400" b="0" i="0">
                <a:solidFill>
                  <a:srgbClr val="3D2B1F"/>
                </a:solidFill>
                <a:latin typeface="Calibri"/>
              </a:rPr>
              <a:t>baseline
avg latency</a:t>
            </a:r>
          </a:p>
        </p:txBody>
      </p:sp>
      <p:sp>
        <p:nvSpPr>
          <p:cNvPr id="10" name="Rounded Rectangle 9"/>
          <p:cNvSpPr/>
          <p:nvPr/>
        </p:nvSpPr>
        <p:spPr>
          <a:xfrm>
            <a:off x="320040" y="4892040"/>
            <a:ext cx="11521440" cy="1719072"/>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001768"/>
            <a:ext cx="11155680" cy="1481328"/>
          </a:xfrm>
          <a:prstGeom prst="rect">
            <a:avLst/>
          </a:prstGeom>
          <a:noFill/>
        </p:spPr>
        <p:txBody>
          <a:bodyPr wrap="square">
            <a:spAutoFit/>
          </a:bodyPr>
          <a:lstStyle/>
          <a:p>
            <a:pPr algn="l">
              <a:spcBef>
                <a:spcPts val="0"/>
              </a:spcBef>
            </a:pPr>
            <a:r>
              <a:rPr sz="1500" b="1" i="0">
                <a:solidFill>
                  <a:srgbClr val="C1603A"/>
                </a:solidFill>
                <a:latin typeface="Calibri"/>
              </a:rPr>
              <a:t>Latency trade-off:</a:t>
            </a:r>
          </a:p>
          <a:p>
            <a:pPr algn="l">
              <a:spcBef>
                <a:spcPts val="500"/>
              </a:spcBef>
            </a:pPr>
            <a:r>
              <a:rPr sz="1350" b="0" i="0">
                <a:solidFill>
                  <a:srgbClr val="3D2B1F"/>
                </a:solidFill>
                <a:latin typeface="Calibri"/>
              </a:rPr>
              <a:t>  ·  The full pipeline is 14× slower than baseline (22.6s vs 1.6s) — overhead from 6 sequential LLM calls</a:t>
            </a:r>
          </a:p>
          <a:p>
            <a:pPr algn="l">
              <a:spcBef>
                <a:spcPts val="500"/>
              </a:spcBef>
            </a:pPr>
            <a:r>
              <a:rPr sz="1350" b="0" i="0">
                <a:solidFill>
                  <a:srgbClr val="3D2B1F"/>
                </a:solidFill>
                <a:latin typeface="Calibri"/>
              </a:rPr>
              <a:t>  ·  Removing any component cuts 3–6s of latency, explaining ablation 'wins' on casual inputs</a:t>
            </a:r>
          </a:p>
          <a:p>
            <a:pPr algn="l">
              <a:spcBef>
                <a:spcPts val="500"/>
              </a:spcBef>
            </a:pPr>
            <a:r>
              <a:rPr sz="1350" b="0" i="0">
                <a:solidFill>
                  <a:srgbClr val="3D2B1F"/>
                </a:solidFill>
                <a:latin typeface="Calibri"/>
              </a:rPr>
              <a:t>  ·  Future work: async / streaming execution would bring perceived latency close to baseline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247120" cy="685800"/>
          </a:xfrm>
          <a:prstGeom prst="rect">
            <a:avLst/>
          </a:prstGeom>
          <a:noFill/>
        </p:spPr>
        <p:txBody>
          <a:bodyPr wrap="square">
            <a:spAutoFit/>
          </a:bodyPr>
          <a:lstStyle/>
          <a:p>
            <a:pPr algn="l">
              <a:spcBef>
                <a:spcPts val="0"/>
              </a:spcBef>
            </a:pPr>
            <a:r>
              <a:rPr sz="3400" b="1" i="0">
                <a:solidFill>
                  <a:srgbClr val="3D2B1F"/>
                </a:solidFill>
                <a:latin typeface="Calibri"/>
              </a:rPr>
              <a:t>Key Findings &amp; Discussion</a:t>
            </a:r>
          </a:p>
        </p:txBody>
      </p:sp>
      <p:sp>
        <p:nvSpPr>
          <p:cNvPr id="4" name="Rectangle 3"/>
          <p:cNvSpPr/>
          <p:nvPr/>
        </p:nvSpPr>
        <p:spPr>
          <a:xfrm>
            <a:off x="502920" y="987552"/>
            <a:ext cx="11247120" cy="36576"/>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143000"/>
            <a:ext cx="11247120" cy="96012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10881360" cy="804672"/>
          </a:xfrm>
          <a:prstGeom prst="rect">
            <a:avLst/>
          </a:prstGeom>
          <a:noFill/>
        </p:spPr>
        <p:txBody>
          <a:bodyPr wrap="square">
            <a:spAutoFit/>
          </a:bodyPr>
          <a:lstStyle/>
          <a:p>
            <a:pPr algn="l">
              <a:spcBef>
                <a:spcPts val="0"/>
              </a:spcBef>
            </a:pPr>
            <a:r>
              <a:rPr sz="1500" b="1" i="0">
                <a:solidFill>
                  <a:srgbClr val="4A7257"/>
                </a:solidFill>
                <a:latin typeface="Calibri"/>
              </a:rPr>
              <a:t>✅  Pipeline wins where it counts</a:t>
            </a:r>
          </a:p>
          <a:p>
            <a:pPr algn="l">
              <a:spcBef>
                <a:spcPts val="400"/>
              </a:spcBef>
            </a:pPr>
            <a:r>
              <a:rPr sz="1350" b="0" i="0">
                <a:solidFill>
                  <a:srgbClr val="3D2B1F"/>
                </a:solidFill>
                <a:latin typeface="Calibri"/>
              </a:rPr>
              <a:t>    87% pairwise win overall, 92% on medium+high-risk. Advantage grows with case severity.</a:t>
            </a:r>
          </a:p>
        </p:txBody>
      </p:sp>
      <p:sp>
        <p:nvSpPr>
          <p:cNvPr id="7" name="Rounded Rectangle 6"/>
          <p:cNvSpPr/>
          <p:nvPr/>
        </p:nvSpPr>
        <p:spPr>
          <a:xfrm>
            <a:off x="502920" y="2185415"/>
            <a:ext cx="11247120" cy="960120"/>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10881360" cy="804672"/>
          </a:xfrm>
          <a:prstGeom prst="rect">
            <a:avLst/>
          </a:prstGeom>
          <a:noFill/>
        </p:spPr>
        <p:txBody>
          <a:bodyPr wrap="square">
            <a:spAutoFit/>
          </a:bodyPr>
          <a:lstStyle/>
          <a:p>
            <a:pPr algn="l">
              <a:spcBef>
                <a:spcPts val="0"/>
              </a:spcBef>
            </a:pPr>
            <a:r>
              <a:rPr sz="1500" b="1" i="0">
                <a:solidFill>
                  <a:srgbClr val="4A7257"/>
                </a:solidFill>
                <a:latin typeface="Calibri"/>
              </a:rPr>
              <a:t>✅  Safety layer is non-negotiable</a:t>
            </a:r>
          </a:p>
          <a:p>
            <a:pPr algn="l">
              <a:spcBef>
                <a:spcPts val="400"/>
              </a:spcBef>
            </a:pPr>
            <a:r>
              <a:rPr sz="1350" b="0" i="0">
                <a:solidFill>
                  <a:srgbClr val="3D2B1F"/>
                </a:solidFill>
                <a:latin typeface="Calibri"/>
              </a:rPr>
              <a:t>    100% high-risk recall. Without the safety agent, the system misses every crisis disclosure — 0% recall.</a:t>
            </a:r>
          </a:p>
        </p:txBody>
      </p:sp>
      <p:sp>
        <p:nvSpPr>
          <p:cNvPr id="9" name="Rounded Rectangle 8"/>
          <p:cNvSpPr/>
          <p:nvPr/>
        </p:nvSpPr>
        <p:spPr>
          <a:xfrm>
            <a:off x="502920" y="3227832"/>
            <a:ext cx="11247120" cy="96012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319272"/>
            <a:ext cx="10881360" cy="804672"/>
          </a:xfrm>
          <a:prstGeom prst="rect">
            <a:avLst/>
          </a:prstGeom>
          <a:noFill/>
        </p:spPr>
        <p:txBody>
          <a:bodyPr wrap="square">
            <a:spAutoFit/>
          </a:bodyPr>
          <a:lstStyle/>
          <a:p>
            <a:pPr algn="l">
              <a:spcBef>
                <a:spcPts val="0"/>
              </a:spcBef>
            </a:pPr>
            <a:r>
              <a:rPr sz="1500" b="1" i="0">
                <a:solidFill>
                  <a:srgbClr val="C1603A"/>
                </a:solidFill>
                <a:latin typeface="Calibri"/>
              </a:rPr>
              <a:t>⚠️  Ablations appear better on low-risk metrics</a:t>
            </a:r>
          </a:p>
          <a:p>
            <a:pPr algn="l">
              <a:spcBef>
                <a:spcPts val="400"/>
              </a:spcBef>
            </a:pPr>
            <a:r>
              <a:rPr sz="1350" b="0" i="0">
                <a:solidFill>
                  <a:srgbClr val="3D2B1F"/>
                </a:solidFill>
                <a:latin typeface="Calibri"/>
              </a:rPr>
              <a:t>    Removing components reduces latency and improves fluency on routine inputs — but that's the wrong benchmark.</a:t>
            </a:r>
          </a:p>
        </p:txBody>
      </p:sp>
      <p:sp>
        <p:nvSpPr>
          <p:cNvPr id="11" name="Rounded Rectangle 10"/>
          <p:cNvSpPr/>
          <p:nvPr/>
        </p:nvSpPr>
        <p:spPr>
          <a:xfrm>
            <a:off x="502920" y="4270248"/>
            <a:ext cx="11247120" cy="96012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361688"/>
            <a:ext cx="10881360" cy="804672"/>
          </a:xfrm>
          <a:prstGeom prst="rect">
            <a:avLst/>
          </a:prstGeom>
          <a:noFill/>
        </p:spPr>
        <p:txBody>
          <a:bodyPr wrap="square">
            <a:spAutoFit/>
          </a:bodyPr>
          <a:lstStyle/>
          <a:p>
            <a:pPr algn="l">
              <a:spcBef>
                <a:spcPts val="0"/>
              </a:spcBef>
            </a:pPr>
            <a:r>
              <a:rPr sz="1500" b="1" i="0">
                <a:solidFill>
                  <a:srgbClr val="C1603A"/>
                </a:solidFill>
                <a:latin typeface="Calibri"/>
              </a:rPr>
              <a:t>⚠️  Retrieval needs tuning</a:t>
            </a:r>
          </a:p>
          <a:p>
            <a:pPr algn="l">
              <a:spcBef>
                <a:spcPts val="400"/>
              </a:spcBef>
            </a:pPr>
            <a:r>
              <a:rPr sz="1350" b="0" i="0">
                <a:solidFill>
                  <a:srgbClr val="3D2B1F"/>
                </a:solidFill>
                <a:latin typeface="Calibri"/>
              </a:rPr>
              <a:t>    Generic RAG sometimes injects irrelevant context. Scenario-gated retrieval would improve precision.</a:t>
            </a:r>
          </a:p>
        </p:txBody>
      </p:sp>
      <p:sp>
        <p:nvSpPr>
          <p:cNvPr id="13" name="Rounded Rectangle 12"/>
          <p:cNvSpPr/>
          <p:nvPr/>
        </p:nvSpPr>
        <p:spPr>
          <a:xfrm>
            <a:off x="502920" y="5312664"/>
            <a:ext cx="11247120" cy="960120"/>
          </a:xfrm>
          <a:prstGeom prst="roundRect">
            <a:avLst/>
          </a:prstGeom>
          <a:solidFill>
            <a:srgbClr val="FFF5EB"/>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404103"/>
            <a:ext cx="10881360" cy="804672"/>
          </a:xfrm>
          <a:prstGeom prst="rect">
            <a:avLst/>
          </a:prstGeom>
          <a:noFill/>
        </p:spPr>
        <p:txBody>
          <a:bodyPr wrap="square">
            <a:spAutoFit/>
          </a:bodyPr>
          <a:lstStyle/>
          <a:p>
            <a:pPr algn="l">
              <a:spcBef>
                <a:spcPts val="0"/>
              </a:spcBef>
            </a:pPr>
            <a:r>
              <a:rPr sz="1500" b="1" i="0">
                <a:solidFill>
                  <a:srgbClr val="8A6F5A"/>
                </a:solidFill>
                <a:latin typeface="Calibri"/>
              </a:rPr>
              <a:t>💡  Complexity ≠ always better</a:t>
            </a:r>
          </a:p>
          <a:p>
            <a:pPr algn="l">
              <a:spcBef>
                <a:spcPts val="400"/>
              </a:spcBef>
            </a:pPr>
            <a:r>
              <a:rPr sz="1350" b="0" i="0">
                <a:solidFill>
                  <a:srgbClr val="3D2B1F"/>
                </a:solidFill>
                <a:latin typeface="Calibri"/>
              </a:rPr>
              <a:t>    Baseline is 14× faster (1.6s vs 22.5s) and competitive on casual inputs. Multi-agent earns its overhead on complex, high-risk cases.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247120" cy="685800"/>
          </a:xfrm>
          <a:prstGeom prst="rect">
            <a:avLst/>
          </a:prstGeom>
          <a:noFill/>
        </p:spPr>
        <p:txBody>
          <a:bodyPr wrap="square">
            <a:spAutoFit/>
          </a:bodyPr>
          <a:lstStyle/>
          <a:p>
            <a:pPr algn="l">
              <a:spcBef>
                <a:spcPts val="0"/>
              </a:spcBef>
            </a:pPr>
            <a:r>
              <a:rPr sz="3400" b="1" i="0">
                <a:solidFill>
                  <a:srgbClr val="3D2B1F"/>
                </a:solidFill>
                <a:latin typeface="Calibri"/>
              </a:rPr>
              <a:t>Limitations &amp; Future Work</a:t>
            </a:r>
          </a:p>
        </p:txBody>
      </p:sp>
      <p:sp>
        <p:nvSpPr>
          <p:cNvPr id="4" name="Rectangle 3"/>
          <p:cNvSpPr/>
          <p:nvPr/>
        </p:nvSpPr>
        <p:spPr>
          <a:xfrm>
            <a:off x="502920" y="987552"/>
            <a:ext cx="11247120" cy="36576"/>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143000"/>
            <a:ext cx="7955279" cy="86868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7589520" cy="713232"/>
          </a:xfrm>
          <a:prstGeom prst="rect">
            <a:avLst/>
          </a:prstGeom>
          <a:noFill/>
        </p:spPr>
        <p:txBody>
          <a:bodyPr wrap="square">
            <a:spAutoFit/>
          </a:bodyPr>
          <a:lstStyle/>
          <a:p>
            <a:pPr algn="l">
              <a:spcBef>
                <a:spcPts val="0"/>
              </a:spcBef>
            </a:pPr>
            <a:r>
              <a:rPr sz="1350" b="0" i="0">
                <a:solidFill>
                  <a:srgbClr val="3D2B1F"/>
                </a:solidFill>
                <a:latin typeface="Calibri"/>
              </a:rPr>
              <a:t>LLM-Judge Validity  —  Model-dependent scores. Human annotation with trained raters would strengthen validity.</a:t>
            </a:r>
          </a:p>
        </p:txBody>
      </p:sp>
      <p:sp>
        <p:nvSpPr>
          <p:cNvPr id="7" name="Rounded Rectangle 6"/>
          <p:cNvSpPr/>
          <p:nvPr/>
        </p:nvSpPr>
        <p:spPr>
          <a:xfrm>
            <a:off x="502920" y="2103120"/>
            <a:ext cx="7955279" cy="86868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94560"/>
            <a:ext cx="7589520" cy="713232"/>
          </a:xfrm>
          <a:prstGeom prst="rect">
            <a:avLst/>
          </a:prstGeom>
          <a:noFill/>
        </p:spPr>
        <p:txBody>
          <a:bodyPr wrap="square">
            <a:spAutoFit/>
          </a:bodyPr>
          <a:lstStyle/>
          <a:p>
            <a:pPr algn="l">
              <a:spcBef>
                <a:spcPts val="0"/>
              </a:spcBef>
            </a:pPr>
            <a:r>
              <a:rPr sz="1350" b="0" i="0">
                <a:solidFill>
                  <a:srgbClr val="3D2B1F"/>
                </a:solidFill>
                <a:latin typeface="Calibri"/>
              </a:rPr>
              <a:t>Dataset Scale  —  n=15–24 per runner gives directional signal but wide CIs. 100+ cases would tighten estimates.</a:t>
            </a:r>
          </a:p>
        </p:txBody>
      </p:sp>
      <p:sp>
        <p:nvSpPr>
          <p:cNvPr id="9" name="Rounded Rectangle 8"/>
          <p:cNvSpPr/>
          <p:nvPr/>
        </p:nvSpPr>
        <p:spPr>
          <a:xfrm>
            <a:off x="502920" y="3063240"/>
            <a:ext cx="7955279" cy="86868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154680"/>
            <a:ext cx="7589520" cy="713232"/>
          </a:xfrm>
          <a:prstGeom prst="rect">
            <a:avLst/>
          </a:prstGeom>
          <a:noFill/>
        </p:spPr>
        <p:txBody>
          <a:bodyPr wrap="square">
            <a:spAutoFit/>
          </a:bodyPr>
          <a:lstStyle/>
          <a:p>
            <a:pPr algn="l">
              <a:spcBef>
                <a:spcPts val="0"/>
              </a:spcBef>
            </a:pPr>
            <a:r>
              <a:rPr sz="1350" b="0" i="0">
                <a:solidFill>
                  <a:srgbClr val="3D2B1F"/>
                </a:solidFill>
                <a:latin typeface="Calibri"/>
              </a:rPr>
              <a:t>Latency  —  22.5s avg vs 1.6s baseline. Parallel streaming + caching would improve responsiveness.</a:t>
            </a:r>
          </a:p>
        </p:txBody>
      </p:sp>
      <p:sp>
        <p:nvSpPr>
          <p:cNvPr id="11" name="Rounded Rectangle 10"/>
          <p:cNvSpPr/>
          <p:nvPr/>
        </p:nvSpPr>
        <p:spPr>
          <a:xfrm>
            <a:off x="502920" y="4023360"/>
            <a:ext cx="7955279" cy="86868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14800"/>
            <a:ext cx="7589520" cy="713232"/>
          </a:xfrm>
          <a:prstGeom prst="rect">
            <a:avLst/>
          </a:prstGeom>
          <a:noFill/>
        </p:spPr>
        <p:txBody>
          <a:bodyPr wrap="square">
            <a:spAutoFit/>
          </a:bodyPr>
          <a:lstStyle/>
          <a:p>
            <a:pPr algn="l">
              <a:spcBef>
                <a:spcPts val="0"/>
              </a:spcBef>
            </a:pPr>
            <a:r>
              <a:rPr sz="1350" b="0" i="0">
                <a:solidFill>
                  <a:srgbClr val="3D2B1F"/>
                </a:solidFill>
                <a:latin typeface="Calibri"/>
              </a:rPr>
              <a:t>Retrieval Precision  —  Generic RAG injects irrelevant content. Scenario-gated, query-rewritten retrieval needed.</a:t>
            </a:r>
          </a:p>
        </p:txBody>
      </p:sp>
      <p:sp>
        <p:nvSpPr>
          <p:cNvPr id="13" name="Rounded Rectangle 12"/>
          <p:cNvSpPr/>
          <p:nvPr/>
        </p:nvSpPr>
        <p:spPr>
          <a:xfrm>
            <a:off x="502920" y="4983480"/>
            <a:ext cx="7955279" cy="868680"/>
          </a:xfrm>
          <a:prstGeom prst="roundRect">
            <a:avLst/>
          </a:prstGeom>
          <a:solidFill>
            <a:srgbClr val="F7E8DA"/>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074920"/>
            <a:ext cx="7589520" cy="713232"/>
          </a:xfrm>
          <a:prstGeom prst="rect">
            <a:avLst/>
          </a:prstGeom>
          <a:noFill/>
        </p:spPr>
        <p:txBody>
          <a:bodyPr wrap="square">
            <a:spAutoFit/>
          </a:bodyPr>
          <a:lstStyle/>
          <a:p>
            <a:pPr algn="l">
              <a:spcBef>
                <a:spcPts val="0"/>
              </a:spcBef>
            </a:pPr>
            <a:r>
              <a:rPr sz="1350" b="0" i="0">
                <a:solidFill>
                  <a:srgbClr val="3D2B1F"/>
                </a:solidFill>
                <a:latin typeface="Calibri"/>
              </a:rPr>
              <a:t>User Study  —  A/B test with real users would replace proxy judge scores and measure actual support outcomes.</a:t>
            </a:r>
          </a:p>
        </p:txBody>
      </p:sp>
      <p:sp>
        <p:nvSpPr>
          <p:cNvPr id="15" name="Rounded Rectangle 14"/>
          <p:cNvSpPr/>
          <p:nvPr/>
        </p:nvSpPr>
        <p:spPr>
          <a:xfrm>
            <a:off x="8732520" y="1143000"/>
            <a:ext cx="3383280" cy="5504688"/>
          </a:xfrm>
          <a:prstGeom prst="roundRect">
            <a:avLst/>
          </a:prstGeom>
          <a:solidFill>
            <a:srgbClr val="C8DECF"/>
          </a:solidFill>
          <a:ln w="9525">
            <a:solidFill>
              <a:srgbClr val="7B9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87968" y="1298448"/>
            <a:ext cx="3090672" cy="5212080"/>
          </a:xfrm>
          <a:prstGeom prst="rect">
            <a:avLst/>
          </a:prstGeom>
          <a:noFill/>
        </p:spPr>
        <p:txBody>
          <a:bodyPr wrap="square">
            <a:spAutoFit/>
          </a:bodyPr>
          <a:lstStyle/>
          <a:p>
            <a:pPr algn="l">
              <a:spcBef>
                <a:spcPts val="0"/>
              </a:spcBef>
            </a:pPr>
            <a:r>
              <a:rPr sz="1800" b="1" i="0">
                <a:solidFill>
                  <a:srgbClr val="4A7257"/>
                </a:solidFill>
                <a:latin typeface="Calibri"/>
              </a:rPr>
              <a:t>🌱  Future Work</a:t>
            </a:r>
          </a:p>
          <a:p>
            <a:pPr algn="l">
              <a:spcBef>
                <a:spcPts val="1000"/>
              </a:spcBef>
            </a:pPr>
            <a:r>
              <a:rPr sz="1400" b="0" i="0">
                <a:solidFill>
                  <a:srgbClr val="3D2B1F"/>
                </a:solidFill>
                <a:latin typeface="Calibri"/>
              </a:rPr>
              <a:t>  →  Fine-tuned empathy model</a:t>
            </a:r>
          </a:p>
          <a:p>
            <a:pPr algn="l">
              <a:spcBef>
                <a:spcPts val="1000"/>
              </a:spcBef>
            </a:pPr>
            <a:r>
              <a:rPr sz="1400" b="0" i="0">
                <a:solidFill>
                  <a:srgbClr val="3D2B1F"/>
                </a:solidFill>
                <a:latin typeface="Calibri"/>
              </a:rPr>
              <a:t>  →  Long-term memory across days</a:t>
            </a:r>
          </a:p>
          <a:p>
            <a:pPr algn="l">
              <a:spcBef>
                <a:spcPts val="1000"/>
              </a:spcBef>
            </a:pPr>
            <a:r>
              <a:rPr sz="1400" b="0" i="0">
                <a:solidFill>
                  <a:srgbClr val="3D2B1F"/>
                </a:solidFill>
                <a:latin typeface="Calibri"/>
              </a:rPr>
              <a:t>  →  Multilingual support</a:t>
            </a:r>
          </a:p>
          <a:p>
            <a:pPr algn="l">
              <a:spcBef>
                <a:spcPts val="1000"/>
              </a:spcBef>
            </a:pPr>
            <a:r>
              <a:rPr sz="1400" b="0" i="0">
                <a:solidFill>
                  <a:srgbClr val="3D2B1F"/>
                </a:solidFill>
                <a:latin typeface="Calibri"/>
              </a:rPr>
              <a:t>  →  Real crisis protocol integration</a:t>
            </a:r>
          </a:p>
          <a:p>
            <a:pPr algn="l">
              <a:spcBef>
                <a:spcPts val="1000"/>
              </a:spcBef>
            </a:pPr>
            <a:r>
              <a:rPr sz="1400" b="0" i="0">
                <a:solidFill>
                  <a:srgbClr val="3D2B1F"/>
                </a:solidFill>
                <a:latin typeface="Calibri"/>
              </a:rPr>
              <a:t>  →  Human A/B user study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5EB"/>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88952" cy="91440"/>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474720" y="1874519"/>
            <a:ext cx="5239512" cy="64008"/>
          </a:xfrm>
          <a:prstGeom prst="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0" y="2011680"/>
            <a:ext cx="8229600" cy="1280160"/>
          </a:xfrm>
          <a:prstGeom prst="rect">
            <a:avLst/>
          </a:prstGeom>
          <a:noFill/>
        </p:spPr>
        <p:txBody>
          <a:bodyPr wrap="square">
            <a:spAutoFit/>
          </a:bodyPr>
          <a:lstStyle/>
          <a:p>
            <a:pPr algn="ctr">
              <a:spcBef>
                <a:spcPts val="0"/>
              </a:spcBef>
            </a:pPr>
            <a:r>
              <a:rPr sz="6200" b="1" i="0">
                <a:solidFill>
                  <a:srgbClr val="3D2B1F"/>
                </a:solidFill>
                <a:latin typeface="Calibri"/>
              </a:rPr>
              <a:t>Thank You</a:t>
            </a:r>
          </a:p>
        </p:txBody>
      </p:sp>
      <p:sp>
        <p:nvSpPr>
          <p:cNvPr id="6" name="TextBox 5"/>
          <p:cNvSpPr txBox="1"/>
          <p:nvPr/>
        </p:nvSpPr>
        <p:spPr>
          <a:xfrm>
            <a:off x="2011680" y="3383280"/>
            <a:ext cx="8229600" cy="548640"/>
          </a:xfrm>
          <a:prstGeom prst="rect">
            <a:avLst/>
          </a:prstGeom>
          <a:noFill/>
        </p:spPr>
        <p:txBody>
          <a:bodyPr wrap="square">
            <a:spAutoFit/>
          </a:bodyPr>
          <a:lstStyle/>
          <a:p>
            <a:pPr algn="ctr">
              <a:spcBef>
                <a:spcPts val="0"/>
              </a:spcBef>
            </a:pPr>
            <a:r>
              <a:rPr sz="2600" b="0" i="1">
                <a:solidFill>
                  <a:srgbClr val="8A6F5A"/>
                </a:solidFill>
                <a:latin typeface="Calibri"/>
              </a:rPr>
              <a:t>Questions &amp; Discussion</a:t>
            </a:r>
          </a:p>
        </p:txBody>
      </p:sp>
      <p:sp>
        <p:nvSpPr>
          <p:cNvPr id="7" name="Rectangle 6"/>
          <p:cNvSpPr/>
          <p:nvPr/>
        </p:nvSpPr>
        <p:spPr>
          <a:xfrm>
            <a:off x="3474720" y="4114800"/>
            <a:ext cx="5239512" cy="45720"/>
          </a:xfrm>
          <a:prstGeom prst="rect">
            <a:avLst/>
          </a:prstGeom>
          <a:solidFill>
            <a:srgbClr val="C8DE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103120" y="4343400"/>
            <a:ext cx="2606040" cy="1325880"/>
          </a:xfrm>
          <a:prstGeom prst="roundRect">
            <a:avLst/>
          </a:prstGeom>
          <a:solidFill>
            <a:srgbClr val="7B9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0" y="4407408"/>
            <a:ext cx="2423160" cy="1188720"/>
          </a:xfrm>
          <a:prstGeom prst="rect">
            <a:avLst/>
          </a:prstGeom>
          <a:noFill/>
        </p:spPr>
        <p:txBody>
          <a:bodyPr wrap="square">
            <a:spAutoFit/>
          </a:bodyPr>
          <a:lstStyle/>
          <a:p>
            <a:pPr algn="ctr">
              <a:spcBef>
                <a:spcPts val="0"/>
              </a:spcBef>
            </a:pPr>
            <a:r>
              <a:rPr sz="2200" b="1" i="0">
                <a:solidFill>
                  <a:srgbClr val="FFFFFF"/>
                </a:solidFill>
                <a:latin typeface="Calibri"/>
              </a:rPr>
              <a:t>87%
low-risk wins</a:t>
            </a:r>
          </a:p>
        </p:txBody>
      </p:sp>
      <p:sp>
        <p:nvSpPr>
          <p:cNvPr id="10" name="Rounded Rectangle 9"/>
          <p:cNvSpPr/>
          <p:nvPr/>
        </p:nvSpPr>
        <p:spPr>
          <a:xfrm>
            <a:off x="5029200" y="4343400"/>
            <a:ext cx="2606040" cy="1325880"/>
          </a:xfrm>
          <a:prstGeom prst="roundRect">
            <a:avLst/>
          </a:prstGeom>
          <a:solidFill>
            <a:srgbClr val="C16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4407408"/>
            <a:ext cx="2423160" cy="1188720"/>
          </a:xfrm>
          <a:prstGeom prst="rect">
            <a:avLst/>
          </a:prstGeom>
          <a:noFill/>
        </p:spPr>
        <p:txBody>
          <a:bodyPr wrap="square">
            <a:spAutoFit/>
          </a:bodyPr>
          <a:lstStyle/>
          <a:p>
            <a:pPr algn="ctr">
              <a:spcBef>
                <a:spcPts val="0"/>
              </a:spcBef>
            </a:pPr>
            <a:r>
              <a:rPr sz="2200" b="1" i="0">
                <a:solidFill>
                  <a:srgbClr val="FFFFFF"/>
                </a:solidFill>
                <a:latin typeface="Calibri"/>
              </a:rPr>
              <a:t>92%
high-risk wins</a:t>
            </a:r>
          </a:p>
        </p:txBody>
      </p:sp>
      <p:sp>
        <p:nvSpPr>
          <p:cNvPr id="12" name="Rounded Rectangle 11"/>
          <p:cNvSpPr/>
          <p:nvPr/>
        </p:nvSpPr>
        <p:spPr>
          <a:xfrm>
            <a:off x="7955279" y="4343400"/>
            <a:ext cx="2606040" cy="1325880"/>
          </a:xfrm>
          <a:prstGeom prst="roundRect">
            <a:avLst/>
          </a:prstGeom>
          <a:solidFill>
            <a:srgbClr val="4A72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4407408"/>
            <a:ext cx="2423160" cy="1188720"/>
          </a:xfrm>
          <a:prstGeom prst="rect">
            <a:avLst/>
          </a:prstGeom>
          <a:noFill/>
        </p:spPr>
        <p:txBody>
          <a:bodyPr wrap="square">
            <a:spAutoFit/>
          </a:bodyPr>
          <a:lstStyle/>
          <a:p>
            <a:pPr algn="ctr">
              <a:spcBef>
                <a:spcPts val="0"/>
              </a:spcBef>
            </a:pPr>
            <a:r>
              <a:rPr sz="2200" b="1" i="0">
                <a:solidFill>
                  <a:srgbClr val="FFFFFF"/>
                </a:solidFill>
                <a:latin typeface="Calibri"/>
              </a:rPr>
              <a:t>100%
safety recall</a:t>
            </a:r>
          </a:p>
        </p:txBody>
      </p:sp>
      <p:sp>
        <p:nvSpPr>
          <p:cNvPr id="14" name="TextBox 13"/>
          <p:cNvSpPr txBox="1"/>
          <p:nvPr/>
        </p:nvSpPr>
        <p:spPr>
          <a:xfrm>
            <a:off x="1371600" y="6080760"/>
            <a:ext cx="9445752" cy="457200"/>
          </a:xfrm>
          <a:prstGeom prst="rect">
            <a:avLst/>
          </a:prstGeom>
          <a:noFill/>
        </p:spPr>
        <p:txBody>
          <a:bodyPr wrap="square">
            <a:spAutoFit/>
          </a:bodyPr>
          <a:lstStyle/>
          <a:p>
            <a:pPr algn="ctr">
              <a:spcBef>
                <a:spcPts val="0"/>
              </a:spcBef>
            </a:pPr>
            <a:r>
              <a:rPr sz="1300" b="0" i="0">
                <a:solidFill>
                  <a:srgbClr val="8A6F5A"/>
                </a:solidFill>
                <a:latin typeface="Calibri"/>
              </a:rPr>
              <a:t>MindBridge  ·  STAT GR5293 GenAI Course Project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